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9"/>
  </p:notesMasterIdLst>
  <p:sldIdLst>
    <p:sldId id="256" r:id="rId2"/>
    <p:sldId id="264" r:id="rId3"/>
    <p:sldId id="267" r:id="rId4"/>
    <p:sldId id="268" r:id="rId5"/>
    <p:sldId id="270" r:id="rId6"/>
    <p:sldId id="271" r:id="rId7"/>
    <p:sldId id="272" r:id="rId8"/>
  </p:sldIdLst>
  <p:sldSz cx="9906000" cy="6858000" type="A4"/>
  <p:notesSz cx="6797675" cy="99282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8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lizer P. Betinol" initials="EPB" lastIdx="42" clrIdx="0">
    <p:extLst>
      <p:ext uri="{19B8F6BF-5375-455C-9EA6-DF929625EA0E}">
        <p15:presenceInfo xmlns:p15="http://schemas.microsoft.com/office/powerpoint/2012/main" userId="S-1-5-21-4134998048-3027543182-730414805-3686" providerId="AD"/>
      </p:ext>
    </p:extLst>
  </p:cmAuthor>
  <p:cmAuthor id="2" name="Paolo T. Parone" initials="PTP" lastIdx="48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67" autoAdjust="0"/>
    <p:restoredTop sz="90888" autoAdjust="0"/>
  </p:normalViewPr>
  <p:slideViewPr>
    <p:cSldViewPr snapToGrid="0">
      <p:cViewPr>
        <p:scale>
          <a:sx n="100" d="100"/>
          <a:sy n="100" d="100"/>
        </p:scale>
        <p:origin x="-108" y="72"/>
      </p:cViewPr>
      <p:guideLst>
        <p:guide orient="horz" pos="2168"/>
        <p:guide pos="312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427B00-E670-4C16-AAF3-03727BAD7F67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86933C-9A07-4B87-8258-2C1B93301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774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86933C-9A07-4B87-8258-2C1B933017C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0422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86933C-9A07-4B87-8258-2C1B933017C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0422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579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16220" y="5515968"/>
            <a:ext cx="9665504" cy="954107"/>
          </a:xfrm>
          <a:prstGeom prst="rect">
            <a:avLst/>
          </a:prstGeom>
          <a:noFill/>
          <a:ln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endParaRPr lang="en-PH" sz="800" dirty="0"/>
          </a:p>
          <a:p>
            <a:endParaRPr lang="en-PH" sz="800" dirty="0"/>
          </a:p>
          <a:p>
            <a:endParaRPr lang="en-PH" sz="800" dirty="0"/>
          </a:p>
          <a:p>
            <a:endParaRPr lang="en-PH" sz="800" dirty="0"/>
          </a:p>
          <a:p>
            <a:endParaRPr lang="en-PH" sz="800" dirty="0"/>
          </a:p>
          <a:p>
            <a:endParaRPr lang="en-PH" sz="800" dirty="0"/>
          </a:p>
          <a:p>
            <a:endParaRPr lang="en-PH" sz="800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521260275"/>
              </p:ext>
            </p:extLst>
          </p:nvPr>
        </p:nvGraphicFramePr>
        <p:xfrm>
          <a:off x="120981" y="6553200"/>
          <a:ext cx="9665505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5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920"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Data Flow Diagram</a:t>
                      </a:r>
                    </a:p>
                  </a:txBody>
                  <a:tcPr>
                    <a:gradFill flip="none" rotWithShape="1">
                      <a:gsLst>
                        <a:gs pos="0">
                          <a:schemeClr val="tx2">
                            <a:lumMod val="75000"/>
                          </a:schemeClr>
                        </a:gs>
                        <a:gs pos="50000">
                          <a:schemeClr val="tx2"/>
                        </a:gs>
                        <a:gs pos="99000">
                          <a:schemeClr val="bg2"/>
                        </a:gs>
                      </a:gsLst>
                      <a:lin ang="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687900229"/>
              </p:ext>
            </p:extLst>
          </p:nvPr>
        </p:nvGraphicFramePr>
        <p:xfrm>
          <a:off x="131985" y="1066800"/>
          <a:ext cx="9653459" cy="4399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9653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496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2518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66151726"/>
              </p:ext>
            </p:extLst>
          </p:nvPr>
        </p:nvGraphicFramePr>
        <p:xfrm>
          <a:off x="127695" y="76201"/>
          <a:ext cx="9702933" cy="92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4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7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14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520">
                <a:tc rowSpan="3"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74295" marR="74295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n-PH" sz="1400" b="1" u="none" strike="noStrike" kern="1200" cap="none" spc="0" normalizeH="0" baseline="0" noProof="0" dirty="0">
                          <a:ln>
                            <a:noFill/>
                          </a:ln>
                          <a:effectLst/>
                          <a:uLnTx/>
                          <a:uFillTx/>
                        </a:rPr>
                        <a:t>First Community Cooperative</a:t>
                      </a:r>
                      <a:endParaRPr 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74295" marR="74295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PH" sz="1400" dirty="0"/>
                        <a:t>Document No.: DFD-IA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L="74295" marR="74295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675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1300" b="1" dirty="0"/>
                    </a:p>
                  </a:txBody>
                  <a:tcPr marL="74295" marR="74295"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2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675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300" b="1" dirty="0"/>
                        <a:t>Data Flow Diagram</a:t>
                      </a:r>
                    </a:p>
                  </a:txBody>
                  <a:tcPr marL="74295" marR="74295"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2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2525ECF0-4E5C-2C9D-C9E1-00B9884E493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60" y="69851"/>
            <a:ext cx="922353" cy="92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961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4584" y="1102578"/>
            <a:ext cx="974580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 algn="just">
              <a:buFont typeface="+mj-lt"/>
              <a:buAutoNum type="romanUcPeriod"/>
            </a:pPr>
            <a:r>
              <a:rPr lang="en-PH" sz="1600" dirty="0"/>
              <a:t>Purpose and Scope</a:t>
            </a:r>
          </a:p>
          <a:p>
            <a:pPr algn="just"/>
            <a:endParaRPr lang="en-PH" sz="1600" dirty="0"/>
          </a:p>
          <a:p>
            <a:pPr marL="393700" algn="just"/>
            <a:r>
              <a:rPr lang="en-PH" sz="1600" dirty="0"/>
              <a:t>This document provides a graphical representation of how personal information flows within the business processes of Internal Audit Department. This includes the collection, usage, retention, transfer/disclosure and disposal of personal information. Reference numbers are mapped to the Data Inventory for the data fields of each document/file.</a:t>
            </a:r>
          </a:p>
          <a:p>
            <a:pPr algn="just"/>
            <a:endParaRPr lang="en-PH" sz="1600" dirty="0"/>
          </a:p>
          <a:p>
            <a:pPr algn="just"/>
            <a:r>
              <a:rPr lang="en-PH" sz="1600" dirty="0"/>
              <a:t>II.     Data Flow Diagram</a:t>
            </a:r>
          </a:p>
        </p:txBody>
      </p:sp>
      <p:sp>
        <p:nvSpPr>
          <p:cNvPr id="87" name="Flowchart: Alternate Process 86"/>
          <p:cNvSpPr>
            <a:spLocks noChangeAspect="1"/>
          </p:cNvSpPr>
          <p:nvPr/>
        </p:nvSpPr>
        <p:spPr>
          <a:xfrm>
            <a:off x="575443" y="3247698"/>
            <a:ext cx="960120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Manual Process</a:t>
            </a:r>
          </a:p>
        </p:txBody>
      </p:sp>
      <p:grpSp>
        <p:nvGrpSpPr>
          <p:cNvPr id="88" name="Group 87"/>
          <p:cNvGrpSpPr>
            <a:grpSpLocks noChangeAspect="1"/>
          </p:cNvGrpSpPr>
          <p:nvPr/>
        </p:nvGrpSpPr>
        <p:grpSpPr>
          <a:xfrm>
            <a:off x="1870843" y="3239756"/>
            <a:ext cx="960120" cy="661346"/>
            <a:chOff x="1524000" y="2733140"/>
            <a:chExt cx="1143000" cy="727261"/>
          </a:xfrm>
        </p:grpSpPr>
        <p:grpSp>
          <p:nvGrpSpPr>
            <p:cNvPr id="89" name="Group 88"/>
            <p:cNvGrpSpPr/>
            <p:nvPr/>
          </p:nvGrpSpPr>
          <p:grpSpPr>
            <a:xfrm>
              <a:off x="1524000" y="2756526"/>
              <a:ext cx="1143000" cy="703875"/>
              <a:chOff x="1676400" y="2680395"/>
              <a:chExt cx="990600" cy="596205"/>
            </a:xfrm>
          </p:grpSpPr>
          <p:sp>
            <p:nvSpPr>
              <p:cNvPr id="91" name="Flowchart: Process 90"/>
              <p:cNvSpPr/>
              <p:nvPr/>
            </p:nvSpPr>
            <p:spPr>
              <a:xfrm>
                <a:off x="1676400" y="2680395"/>
                <a:ext cx="990600" cy="596205"/>
              </a:xfrm>
              <a:prstGeom prst="flowChartProcess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PH" sz="800" dirty="0"/>
                  <a:t>System Process</a:t>
                </a:r>
              </a:p>
            </p:txBody>
          </p:sp>
          <p:cxnSp>
            <p:nvCxnSpPr>
              <p:cNvPr id="92" name="Straight Connector 91"/>
              <p:cNvCxnSpPr/>
              <p:nvPr/>
            </p:nvCxnSpPr>
            <p:spPr>
              <a:xfrm flipH="1">
                <a:off x="1676400" y="2859016"/>
                <a:ext cx="990600" cy="0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</p:cxnSp>
        </p:grpSp>
        <p:sp>
          <p:nvSpPr>
            <p:cNvPr id="90" name="TextBox 89"/>
            <p:cNvSpPr txBox="1"/>
            <p:nvPr/>
          </p:nvSpPr>
          <p:spPr>
            <a:xfrm>
              <a:off x="1524000" y="2733140"/>
              <a:ext cx="1143000" cy="23691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PH" sz="800" dirty="0"/>
                <a:t>System</a:t>
              </a:r>
            </a:p>
          </p:txBody>
        </p:sp>
      </p:grpSp>
      <p:sp>
        <p:nvSpPr>
          <p:cNvPr id="93" name="Flowchart: Document 92"/>
          <p:cNvSpPr>
            <a:spLocks noChangeAspect="1"/>
          </p:cNvSpPr>
          <p:nvPr/>
        </p:nvSpPr>
        <p:spPr>
          <a:xfrm>
            <a:off x="3361822" y="3420378"/>
            <a:ext cx="660577" cy="440385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Document</a:t>
            </a:r>
          </a:p>
        </p:txBody>
      </p:sp>
      <p:sp>
        <p:nvSpPr>
          <p:cNvPr id="94" name="Flowchart: Predefined Process 93"/>
          <p:cNvSpPr>
            <a:spLocks noChangeAspect="1"/>
          </p:cNvSpPr>
          <p:nvPr/>
        </p:nvSpPr>
        <p:spPr>
          <a:xfrm>
            <a:off x="4537843" y="3247699"/>
            <a:ext cx="961088" cy="640080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Predefined Process</a:t>
            </a:r>
          </a:p>
        </p:txBody>
      </p:sp>
      <p:sp>
        <p:nvSpPr>
          <p:cNvPr id="95" name="Flowchart: Stored Data 94"/>
          <p:cNvSpPr>
            <a:spLocks noChangeAspect="1"/>
          </p:cNvSpPr>
          <p:nvPr/>
        </p:nvSpPr>
        <p:spPr>
          <a:xfrm>
            <a:off x="5785618" y="3254359"/>
            <a:ext cx="960120" cy="640080"/>
          </a:xfrm>
          <a:prstGeom prst="flowChartOnlineStorag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Transaction File</a:t>
            </a:r>
          </a:p>
        </p:txBody>
      </p:sp>
      <p:sp>
        <p:nvSpPr>
          <p:cNvPr id="96" name="Flowchart: Magnetic Disk 95"/>
          <p:cNvSpPr>
            <a:spLocks noChangeAspect="1"/>
          </p:cNvSpPr>
          <p:nvPr/>
        </p:nvSpPr>
        <p:spPr>
          <a:xfrm>
            <a:off x="7055073" y="3247698"/>
            <a:ext cx="960120" cy="640080"/>
          </a:xfrm>
          <a:prstGeom prst="flowChartMagneticDisk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Database</a:t>
            </a:r>
          </a:p>
        </p:txBody>
      </p:sp>
      <p:sp>
        <p:nvSpPr>
          <p:cNvPr id="97" name="Flowchart: Decision 96"/>
          <p:cNvSpPr>
            <a:spLocks noChangeAspect="1"/>
          </p:cNvSpPr>
          <p:nvPr/>
        </p:nvSpPr>
        <p:spPr>
          <a:xfrm>
            <a:off x="8305805" y="3263464"/>
            <a:ext cx="960120" cy="640080"/>
          </a:xfrm>
          <a:prstGeom prst="flowChartDecisio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Decision Box</a:t>
            </a:r>
          </a:p>
        </p:txBody>
      </p:sp>
      <p:sp>
        <p:nvSpPr>
          <p:cNvPr id="98" name="Flowchart: Merge 97"/>
          <p:cNvSpPr>
            <a:spLocks noChangeAspect="1"/>
          </p:cNvSpPr>
          <p:nvPr/>
        </p:nvSpPr>
        <p:spPr>
          <a:xfrm>
            <a:off x="660370" y="4282285"/>
            <a:ext cx="826661" cy="551107"/>
          </a:xfrm>
          <a:prstGeom prst="flowChartMerg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File</a:t>
            </a:r>
          </a:p>
        </p:txBody>
      </p:sp>
      <p:sp>
        <p:nvSpPr>
          <p:cNvPr id="99" name="Pentagon 98"/>
          <p:cNvSpPr>
            <a:spLocks noChangeAspect="1"/>
          </p:cNvSpPr>
          <p:nvPr/>
        </p:nvSpPr>
        <p:spPr>
          <a:xfrm rot="5400000">
            <a:off x="2110873" y="4219249"/>
            <a:ext cx="480060" cy="640080"/>
          </a:xfrm>
          <a:prstGeom prst="homePlate">
            <a:avLst>
              <a:gd name="adj" fmla="val 52401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lIns="0" rIns="0" rtlCol="0" anchor="ctr"/>
          <a:lstStyle/>
          <a:p>
            <a:pPr algn="ctr"/>
            <a:r>
              <a:rPr lang="en-PH" sz="800" dirty="0"/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08465" y="5076499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Off-page Connector</a:t>
            </a:r>
          </a:p>
        </p:txBody>
      </p:sp>
      <p:cxnSp>
        <p:nvCxnSpPr>
          <p:cNvPr id="101" name="Straight Arrow Connector 35"/>
          <p:cNvCxnSpPr/>
          <p:nvPr/>
        </p:nvCxnSpPr>
        <p:spPr>
          <a:xfrm>
            <a:off x="3242443" y="4466899"/>
            <a:ext cx="1097280" cy="152400"/>
          </a:xfrm>
          <a:prstGeom prst="bentConnector3">
            <a:avLst>
              <a:gd name="adj1" fmla="val 50000"/>
            </a:avLst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/>
          <p:cNvCxnSpPr/>
          <p:nvPr/>
        </p:nvCxnSpPr>
        <p:spPr>
          <a:xfrm>
            <a:off x="3242443" y="4847899"/>
            <a:ext cx="1097280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3242443" y="5076499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Connectors</a:t>
            </a:r>
          </a:p>
        </p:txBody>
      </p:sp>
      <p:pic>
        <p:nvPicPr>
          <p:cNvPr id="104" name="Picture 10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08" r="7377"/>
          <a:stretch/>
        </p:blipFill>
        <p:spPr>
          <a:xfrm>
            <a:off x="4634339" y="4207819"/>
            <a:ext cx="877824" cy="7315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4550247" y="5076499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Unit/User</a:t>
            </a:r>
          </a:p>
        </p:txBody>
      </p:sp>
      <p:pic>
        <p:nvPicPr>
          <p:cNvPr id="106" name="Picture 10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51" r="13730"/>
          <a:stretch/>
        </p:blipFill>
        <p:spPr>
          <a:xfrm>
            <a:off x="5806400" y="4194036"/>
            <a:ext cx="877824" cy="73152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702874" y="5076499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Unit/User</a:t>
            </a:r>
          </a:p>
        </p:txBody>
      </p:sp>
      <p:pic>
        <p:nvPicPr>
          <p:cNvPr id="108" name="Picture 10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7342003" y="4193313"/>
            <a:ext cx="292608" cy="73152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913865" y="5076499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Unit/User</a:t>
            </a:r>
          </a:p>
        </p:txBody>
      </p:sp>
      <p:pic>
        <p:nvPicPr>
          <p:cNvPr id="110" name="Picture 109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4" t="8297" r="22572" b="16667"/>
          <a:stretch/>
        </p:blipFill>
        <p:spPr>
          <a:xfrm>
            <a:off x="8195443" y="4194036"/>
            <a:ext cx="877824" cy="73152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8133065" y="5076499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Unit/User</a:t>
            </a:r>
          </a:p>
        </p:txBody>
      </p:sp>
      <p:sp>
        <p:nvSpPr>
          <p:cNvPr id="112" name="Flowchart: Connector 111"/>
          <p:cNvSpPr>
            <a:spLocks noChangeAspect="1"/>
          </p:cNvSpPr>
          <p:nvPr/>
        </p:nvSpPr>
        <p:spPr>
          <a:xfrm>
            <a:off x="974562" y="5555249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8346" y="5951489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On-page Connector</a:t>
            </a:r>
          </a:p>
        </p:txBody>
      </p:sp>
      <p:pic>
        <p:nvPicPr>
          <p:cNvPr id="114" name="Picture 113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9" t="21967" r="25722" b="10834"/>
          <a:stretch/>
        </p:blipFill>
        <p:spPr>
          <a:xfrm>
            <a:off x="2256761" y="5555249"/>
            <a:ext cx="325443" cy="32004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870843" y="5951489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Email</a:t>
            </a:r>
          </a:p>
        </p:txBody>
      </p:sp>
      <p:sp>
        <p:nvSpPr>
          <p:cNvPr id="119" name="Flowchart: Terminator 118"/>
          <p:cNvSpPr/>
          <p:nvPr/>
        </p:nvSpPr>
        <p:spPr>
          <a:xfrm>
            <a:off x="4880743" y="5865181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Start</a:t>
            </a:r>
          </a:p>
        </p:txBody>
      </p:sp>
      <p:sp>
        <p:nvSpPr>
          <p:cNvPr id="120" name="Flowchart: Terminator 119"/>
          <p:cNvSpPr/>
          <p:nvPr/>
        </p:nvSpPr>
        <p:spPr>
          <a:xfrm>
            <a:off x="5985643" y="5884433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End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10550" y="397701"/>
            <a:ext cx="4932480" cy="318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Internal Audit Department</a:t>
            </a:r>
            <a:endParaRPr lang="en-PH" sz="14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805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Box 197"/>
          <p:cNvSpPr txBox="1"/>
          <p:nvPr/>
        </p:nvSpPr>
        <p:spPr>
          <a:xfrm>
            <a:off x="250705" y="5597238"/>
            <a:ext cx="493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Verdana" panose="020B0604030504040204" pitchFamily="34" charset="0"/>
                <a:ea typeface="Verdana" panose="020B0604030504040204" pitchFamily="34" charset="0"/>
              </a:rPr>
              <a:t>Notes:		</a:t>
            </a:r>
          </a:p>
          <a:p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The Annual Audit Plan shall only reference the names of accountable officers relevant to the risk assessment. Profiling of personnel is strictly limited to authorized operational metrics.</a:t>
            </a:r>
            <a:endParaRPr lang="en-PH" sz="1000" b="1" i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310550" y="397701"/>
            <a:ext cx="4932480" cy="318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Internal Audit Department</a:t>
            </a:r>
            <a:endParaRPr lang="en-PH" sz="1400" b="1" dirty="0">
              <a:solidFill>
                <a:srgbClr val="00206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0128" y="1041421"/>
            <a:ext cx="9646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Annual Audit Planning &amp; Risk Assessment</a:t>
            </a:r>
            <a:endParaRPr lang="en-PH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99" name="TextBox 198"/>
          <p:cNvSpPr txBox="1"/>
          <p:nvPr/>
        </p:nvSpPr>
        <p:spPr>
          <a:xfrm>
            <a:off x="6819669" y="5546863"/>
            <a:ext cx="25157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Legend:</a:t>
            </a:r>
          </a:p>
          <a:p>
            <a:endParaRPr lang="en-PH" sz="1000" b="1" dirty="0"/>
          </a:p>
        </p:txBody>
      </p:sp>
      <p:sp>
        <p:nvSpPr>
          <p:cNvPr id="4" name="Flowchart: Terminator 3">
            <a:extLst>
              <a:ext uri="{FF2B5EF4-FFF2-40B4-BE49-F238E27FC236}">
                <a16:creationId xmlns:a16="http://schemas.microsoft.com/office/drawing/2014/main" id="{F57F0C47-192D-672E-E716-608C43638B7A}"/>
              </a:ext>
            </a:extLst>
          </p:cNvPr>
          <p:cNvSpPr/>
          <p:nvPr/>
        </p:nvSpPr>
        <p:spPr>
          <a:xfrm>
            <a:off x="822957" y="2240253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>
                <a:latin typeface="Verdana" panose="020B0604030504040204" pitchFamily="34" charset="0"/>
                <a:ea typeface="Verdana" panose="020B0604030504040204" pitchFamily="34" charset="0"/>
              </a:rPr>
              <a:t>Start</a:t>
            </a:r>
          </a:p>
        </p:txBody>
      </p:sp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23677216-ED76-B0EA-399F-9412CFA7AC1D}"/>
              </a:ext>
            </a:extLst>
          </p:cNvPr>
          <p:cNvSpPr>
            <a:spLocks noChangeAspect="1"/>
          </p:cNvSpPr>
          <p:nvPr/>
        </p:nvSpPr>
        <p:spPr>
          <a:xfrm>
            <a:off x="3581714" y="2088368"/>
            <a:ext cx="1196149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Request review of specific operations or branches</a:t>
            </a:r>
            <a:endParaRPr lang="en-PH" sz="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9D049DFA-3314-172F-4E17-DC5C06751873}"/>
              </a:ext>
            </a:extLst>
          </p:cNvPr>
          <p:cNvSpPr>
            <a:spLocks noChangeAspect="1"/>
          </p:cNvSpPr>
          <p:nvPr/>
        </p:nvSpPr>
        <p:spPr>
          <a:xfrm>
            <a:off x="1884553" y="3674703"/>
            <a:ext cx="1235987" cy="752652"/>
          </a:xfrm>
          <a:prstGeom prst="flowChartDecisio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>
                <a:latin typeface="Verdana" panose="020B0604030504040204" pitchFamily="34" charset="0"/>
                <a:ea typeface="Verdana" panose="020B0604030504040204" pitchFamily="34" charset="0"/>
              </a:rPr>
              <a:t>Approved by Audit Committee?</a:t>
            </a:r>
          </a:p>
        </p:txBody>
      </p:sp>
      <p:sp>
        <p:nvSpPr>
          <p:cNvPr id="10" name="Flowchart: Merge 9">
            <a:extLst>
              <a:ext uri="{FF2B5EF4-FFF2-40B4-BE49-F238E27FC236}">
                <a16:creationId xmlns:a16="http://schemas.microsoft.com/office/drawing/2014/main" id="{D0BC585C-65E3-80EF-E1D7-7DFF864958CB}"/>
              </a:ext>
            </a:extLst>
          </p:cNvPr>
          <p:cNvSpPr>
            <a:spLocks noChangeAspect="1"/>
          </p:cNvSpPr>
          <p:nvPr/>
        </p:nvSpPr>
        <p:spPr>
          <a:xfrm>
            <a:off x="5688930" y="3775475"/>
            <a:ext cx="826661" cy="551107"/>
          </a:xfrm>
          <a:prstGeom prst="flowChartMerg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File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A12D4B-CD46-EDFE-5F5C-B1B5D3635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51" r="13730"/>
          <a:stretch/>
        </p:blipFill>
        <p:spPr>
          <a:xfrm>
            <a:off x="2151301" y="2036881"/>
            <a:ext cx="877824" cy="7315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A33384C-8E5B-1DF5-CE26-3C0B82208E6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5346801" y="2042648"/>
            <a:ext cx="292608" cy="731520"/>
          </a:xfrm>
          <a:prstGeom prst="rect">
            <a:avLst/>
          </a:prstGeom>
        </p:spPr>
      </p:pic>
      <p:sp>
        <p:nvSpPr>
          <p:cNvPr id="13" name="Flowchart: Terminator 12">
            <a:extLst>
              <a:ext uri="{FF2B5EF4-FFF2-40B4-BE49-F238E27FC236}">
                <a16:creationId xmlns:a16="http://schemas.microsoft.com/office/drawing/2014/main" id="{B1345003-6DDB-673D-8796-9F67495717E7}"/>
              </a:ext>
            </a:extLst>
          </p:cNvPr>
          <p:cNvSpPr/>
          <p:nvPr/>
        </p:nvSpPr>
        <p:spPr>
          <a:xfrm>
            <a:off x="7217492" y="3900152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End</a:t>
            </a:r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5DD0E8EC-21A7-AF46-B317-E8CB9D42633A}"/>
              </a:ext>
            </a:extLst>
          </p:cNvPr>
          <p:cNvSpPr>
            <a:spLocks noChangeAspect="1"/>
          </p:cNvSpPr>
          <p:nvPr/>
        </p:nvSpPr>
        <p:spPr>
          <a:xfrm>
            <a:off x="6405123" y="2079371"/>
            <a:ext cx="1375530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Consolidate risk factors, historical performance, and previous audit findings</a:t>
            </a:r>
            <a:endParaRPr lang="en-PH" sz="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Flowchart: Document 7">
            <a:extLst>
              <a:ext uri="{FF2B5EF4-FFF2-40B4-BE49-F238E27FC236}">
                <a16:creationId xmlns:a16="http://schemas.microsoft.com/office/drawing/2014/main" id="{5DAD5C22-F1C5-1208-5E81-D19D481DAE34}"/>
              </a:ext>
            </a:extLst>
          </p:cNvPr>
          <p:cNvSpPr>
            <a:spLocks noChangeAspect="1"/>
          </p:cNvSpPr>
          <p:nvPr/>
        </p:nvSpPr>
        <p:spPr>
          <a:xfrm>
            <a:off x="7461491" y="2594107"/>
            <a:ext cx="1084876" cy="640080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Annual Audit Plan (Contains PI of Branch Managers/Heads)</a:t>
            </a:r>
            <a:endParaRPr lang="en-PH" sz="800" dirty="0"/>
          </a:p>
        </p:txBody>
      </p:sp>
      <p:sp>
        <p:nvSpPr>
          <p:cNvPr id="23" name="Flowchart: Document 22">
            <a:extLst>
              <a:ext uri="{FF2B5EF4-FFF2-40B4-BE49-F238E27FC236}">
                <a16:creationId xmlns:a16="http://schemas.microsoft.com/office/drawing/2014/main" id="{D302D3FD-799C-01CF-8747-80BAA5747206}"/>
              </a:ext>
            </a:extLst>
          </p:cNvPr>
          <p:cNvSpPr>
            <a:spLocks noChangeAspect="1"/>
          </p:cNvSpPr>
          <p:nvPr/>
        </p:nvSpPr>
        <p:spPr>
          <a:xfrm>
            <a:off x="3938520" y="3732099"/>
            <a:ext cx="953268" cy="637860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Approved Annual Audit Plan &amp; Audit Work Program (AWP)</a:t>
            </a:r>
            <a:endParaRPr lang="en-PH" sz="8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65DD6-DE2E-11E9-DC64-AD67A7A6C65F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1386118" y="2391129"/>
            <a:ext cx="765183" cy="11512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55EC7E6-269C-0BED-4C34-38072C1460E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3029125" y="2402641"/>
            <a:ext cx="552589" cy="5767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E108B00-F8FD-9FD5-7427-A573BD4100B1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4777863" y="2408408"/>
            <a:ext cx="568938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3C6E25D-E01D-7B8E-0CCC-954C3CEFDE46}"/>
              </a:ext>
            </a:extLst>
          </p:cNvPr>
          <p:cNvSpPr txBox="1"/>
          <p:nvPr/>
        </p:nvSpPr>
        <p:spPr>
          <a:xfrm>
            <a:off x="2047775" y="2853121"/>
            <a:ext cx="108487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RMS/ Comptroller/ CEO/ Audit Committee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91B146B-D8B4-1A1A-E481-B210709E34DF}"/>
              </a:ext>
            </a:extLst>
          </p:cNvPr>
          <p:cNvSpPr txBox="1"/>
          <p:nvPr/>
        </p:nvSpPr>
        <p:spPr>
          <a:xfrm>
            <a:off x="4891787" y="2847606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Internal Audit Head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0624DE8-4C81-7530-32D0-CF3A4CF9D1A5}"/>
              </a:ext>
            </a:extLst>
          </p:cNvPr>
          <p:cNvCxnSpPr>
            <a:cxnSpLocks/>
            <a:stCxn id="12" idx="3"/>
            <a:endCxn id="22" idx="1"/>
          </p:cNvCxnSpPr>
          <p:nvPr/>
        </p:nvCxnSpPr>
        <p:spPr>
          <a:xfrm flipV="1">
            <a:off x="5639409" y="2399411"/>
            <a:ext cx="765714" cy="8997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10AEA6A-B8C9-0DA9-61B0-C4FC14E307EE}"/>
              </a:ext>
            </a:extLst>
          </p:cNvPr>
          <p:cNvCxnSpPr>
            <a:cxnSpLocks/>
            <a:stCxn id="22" idx="3"/>
            <a:endCxn id="58" idx="2"/>
          </p:cNvCxnSpPr>
          <p:nvPr/>
        </p:nvCxnSpPr>
        <p:spPr>
          <a:xfrm>
            <a:off x="7780653" y="2399411"/>
            <a:ext cx="1142370" cy="862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Flowchart: Connector 57">
            <a:extLst>
              <a:ext uri="{FF2B5EF4-FFF2-40B4-BE49-F238E27FC236}">
                <a16:creationId xmlns:a16="http://schemas.microsoft.com/office/drawing/2014/main" id="{933D793F-285C-7B7D-AA3A-7168BC7EACE5}"/>
              </a:ext>
            </a:extLst>
          </p:cNvPr>
          <p:cNvSpPr>
            <a:spLocks noChangeAspect="1"/>
          </p:cNvSpPr>
          <p:nvPr/>
        </p:nvSpPr>
        <p:spPr>
          <a:xfrm>
            <a:off x="8923023" y="2240253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sp>
        <p:nvSpPr>
          <p:cNvPr id="84" name="Flowchart: Connector 83">
            <a:extLst>
              <a:ext uri="{FF2B5EF4-FFF2-40B4-BE49-F238E27FC236}">
                <a16:creationId xmlns:a16="http://schemas.microsoft.com/office/drawing/2014/main" id="{656FE1E9-FAEE-75E6-2039-BF8BC7DCED06}"/>
              </a:ext>
            </a:extLst>
          </p:cNvPr>
          <p:cNvSpPr>
            <a:spLocks noChangeAspect="1"/>
          </p:cNvSpPr>
          <p:nvPr/>
        </p:nvSpPr>
        <p:spPr>
          <a:xfrm>
            <a:off x="944517" y="3891009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BB56C7F-BDBC-42E0-8A0F-FCAACD62CE25}"/>
              </a:ext>
            </a:extLst>
          </p:cNvPr>
          <p:cNvCxnSpPr>
            <a:cxnSpLocks/>
            <a:stCxn id="84" idx="6"/>
            <a:endCxn id="9" idx="1"/>
          </p:cNvCxnSpPr>
          <p:nvPr/>
        </p:nvCxnSpPr>
        <p:spPr>
          <a:xfrm>
            <a:off x="1264557" y="4051029"/>
            <a:ext cx="619996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E86EF920-2EE3-20E7-9ACA-9E56A3F506B5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>
            <a:off x="3120540" y="4051029"/>
            <a:ext cx="817980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E957701-8AF8-F997-EA5D-D8C22ADA1A7D}"/>
              </a:ext>
            </a:extLst>
          </p:cNvPr>
          <p:cNvCxnSpPr>
            <a:cxnSpLocks/>
            <a:stCxn id="9" idx="0"/>
            <a:endCxn id="12" idx="2"/>
          </p:cNvCxnSpPr>
          <p:nvPr/>
        </p:nvCxnSpPr>
        <p:spPr>
          <a:xfrm rot="5400000" flipH="1" flipV="1">
            <a:off x="3547559" y="1729157"/>
            <a:ext cx="900535" cy="2990558"/>
          </a:xfrm>
          <a:prstGeom prst="bentConnector3">
            <a:avLst>
              <a:gd name="adj1" fmla="val 233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1309EF74-81BF-BAEF-2AE8-846DF03B6167}"/>
              </a:ext>
            </a:extLst>
          </p:cNvPr>
          <p:cNvSpPr txBox="1"/>
          <p:nvPr/>
        </p:nvSpPr>
        <p:spPr>
          <a:xfrm>
            <a:off x="3007072" y="3879915"/>
            <a:ext cx="395048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YES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2D73DCC8-4E87-5787-6C3C-AAA115EA121B}"/>
              </a:ext>
            </a:extLst>
          </p:cNvPr>
          <p:cNvSpPr txBox="1"/>
          <p:nvPr/>
        </p:nvSpPr>
        <p:spPr>
          <a:xfrm>
            <a:off x="2426346" y="3450754"/>
            <a:ext cx="395048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NO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0D641A1C-8372-F177-E3F7-F19732C0FD81}"/>
              </a:ext>
            </a:extLst>
          </p:cNvPr>
          <p:cNvCxnSpPr>
            <a:cxnSpLocks/>
            <a:stCxn id="23" idx="3"/>
            <a:endCxn id="10" idx="1"/>
          </p:cNvCxnSpPr>
          <p:nvPr/>
        </p:nvCxnSpPr>
        <p:spPr>
          <a:xfrm>
            <a:off x="4891788" y="4051029"/>
            <a:ext cx="1003807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4CF057C0-4E1C-7792-EDA3-D79C62AFD423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 flipV="1">
            <a:off x="6308926" y="4051028"/>
            <a:ext cx="908566" cy="1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9A74336F-B5F1-3F29-C705-42ED3CBA1081}"/>
              </a:ext>
            </a:extLst>
          </p:cNvPr>
          <p:cNvSpPr txBox="1"/>
          <p:nvPr/>
        </p:nvSpPr>
        <p:spPr>
          <a:xfrm>
            <a:off x="3162772" y="3274906"/>
            <a:ext cx="1729015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Back to Internal Audit Head for revision</a:t>
            </a:r>
            <a:endParaRPr lang="en-PH" sz="800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A9252619-EBA6-4088-8F15-6D88F5A31C2F}"/>
              </a:ext>
            </a:extLst>
          </p:cNvPr>
          <p:cNvSpPr txBox="1"/>
          <p:nvPr/>
        </p:nvSpPr>
        <p:spPr>
          <a:xfrm>
            <a:off x="1758889" y="1399688"/>
            <a:ext cx="8010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  <a:cs typeface="Ebrima" panose="02000000000000000000" pitchFamily="2" charset="0"/>
              </a:rPr>
              <a:t>This flow illustrates how Internal Audit securely gathers historical data to target high-risk areas</a:t>
            </a:r>
            <a:endParaRPr lang="en-PH" sz="1000" i="1" dirty="0">
              <a:latin typeface="Verdana" panose="020B0604030504040204" pitchFamily="34" charset="0"/>
              <a:ea typeface="Verdana" panose="020B0604030504040204" pitchFamily="34" charset="0"/>
              <a:cs typeface="Ebrima" panose="02000000000000000000" pitchFamily="2" charset="0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54695DE-BB64-E741-6333-4ABEB6865386}"/>
              </a:ext>
            </a:extLst>
          </p:cNvPr>
          <p:cNvSpPr txBox="1"/>
          <p:nvPr/>
        </p:nvSpPr>
        <p:spPr>
          <a:xfrm>
            <a:off x="5559822" y="4356636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Secure Storage</a:t>
            </a:r>
          </a:p>
        </p:txBody>
      </p:sp>
    </p:spTree>
    <p:extLst>
      <p:ext uri="{BB962C8B-B14F-4D97-AF65-F5344CB8AC3E}">
        <p14:creationId xmlns:p14="http://schemas.microsoft.com/office/powerpoint/2010/main" val="3352069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10550" y="397701"/>
            <a:ext cx="4932480" cy="318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Internal Audit Department</a:t>
            </a:r>
            <a:endParaRPr lang="en-PH" sz="1400" b="1" dirty="0">
              <a:solidFill>
                <a:srgbClr val="00206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0128" y="1041421"/>
            <a:ext cx="9646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Audit Fieldwork, Sampling, and Evidence Gathering</a:t>
            </a:r>
            <a:endParaRPr lang="en-PH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250705" y="5597238"/>
            <a:ext cx="53983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Notes:</a:t>
            </a:r>
          </a:p>
          <a:p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Auditors enforce a "No-Copy / No-Save" policy on local unencrypted drives. Data extraction is restricted by the Principle of Proportionality (only pulling fields necessary to test the control).</a:t>
            </a:r>
            <a:r>
              <a:rPr lang="en-US" sz="1000" b="1" i="1" dirty="0">
                <a:latin typeface="Verdana" panose="020B0604030504040204" pitchFamily="34" charset="0"/>
                <a:ea typeface="Verdana" panose="020B0604030504040204" pitchFamily="34" charset="0"/>
              </a:rPr>
              <a:t>	</a:t>
            </a:r>
          </a:p>
          <a:p>
            <a:endParaRPr lang="en-PH" sz="1000" b="1" dirty="0"/>
          </a:p>
        </p:txBody>
      </p:sp>
      <p:sp>
        <p:nvSpPr>
          <p:cNvPr id="103" name="TextBox 102"/>
          <p:cNvSpPr txBox="1"/>
          <p:nvPr/>
        </p:nvSpPr>
        <p:spPr>
          <a:xfrm>
            <a:off x="6819669" y="5546863"/>
            <a:ext cx="251577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Legend:</a:t>
            </a:r>
          </a:p>
          <a:p>
            <a:endParaRPr lang="en-US" sz="1000" b="1" dirty="0"/>
          </a:p>
          <a:p>
            <a:endParaRPr lang="en-US" sz="1000" b="1" dirty="0"/>
          </a:p>
          <a:p>
            <a:endParaRPr lang="en-US" sz="1000" b="1" dirty="0"/>
          </a:p>
          <a:p>
            <a:endParaRPr lang="en-PH" sz="1000" b="1" dirty="0"/>
          </a:p>
        </p:txBody>
      </p:sp>
      <p:sp>
        <p:nvSpPr>
          <p:cNvPr id="4" name="Flowchart: Alternate Process 3">
            <a:extLst>
              <a:ext uri="{FF2B5EF4-FFF2-40B4-BE49-F238E27FC236}">
                <a16:creationId xmlns:a16="http://schemas.microsoft.com/office/drawing/2014/main" id="{D7E0F96B-AE01-AD51-7A00-8E7F634E2631}"/>
              </a:ext>
            </a:extLst>
          </p:cNvPr>
          <p:cNvSpPr>
            <a:spLocks noChangeAspect="1"/>
          </p:cNvSpPr>
          <p:nvPr/>
        </p:nvSpPr>
        <p:spPr>
          <a:xfrm>
            <a:off x="3091988" y="2131644"/>
            <a:ext cx="1119981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Present Approved Audit Work Program (AWP) &amp; Sign Confidentiality Log</a:t>
            </a:r>
            <a:endParaRPr lang="en-PH" sz="8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B77EEC-2622-EA4D-5838-019C5E86A5A0}"/>
              </a:ext>
            </a:extLst>
          </p:cNvPr>
          <p:cNvGrpSpPr>
            <a:grpSpLocks noChangeAspect="1"/>
          </p:cNvGrpSpPr>
          <p:nvPr/>
        </p:nvGrpSpPr>
        <p:grpSpPr>
          <a:xfrm>
            <a:off x="4936052" y="2102936"/>
            <a:ext cx="1231639" cy="696886"/>
            <a:chOff x="1420403" y="2627769"/>
            <a:chExt cx="1466237" cy="69541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4B51414-D514-A5C2-9AE6-42A65195B24F}"/>
                </a:ext>
              </a:extLst>
            </p:cNvPr>
            <p:cNvGrpSpPr/>
            <p:nvPr/>
          </p:nvGrpSpPr>
          <p:grpSpPr>
            <a:xfrm>
              <a:off x="1420403" y="2627769"/>
              <a:ext cx="1466237" cy="695414"/>
              <a:chOff x="1586617" y="2571332"/>
              <a:chExt cx="1270739" cy="589038"/>
            </a:xfrm>
          </p:grpSpPr>
          <p:sp>
            <p:nvSpPr>
              <p:cNvPr id="9" name="Flowchart: Process 8">
                <a:extLst>
                  <a:ext uri="{FF2B5EF4-FFF2-40B4-BE49-F238E27FC236}">
                    <a16:creationId xmlns:a16="http://schemas.microsoft.com/office/drawing/2014/main" id="{C48E8413-0D1B-A391-A30B-C181E69BAEA7}"/>
                  </a:ext>
                </a:extLst>
              </p:cNvPr>
              <p:cNvSpPr/>
              <p:nvPr/>
            </p:nvSpPr>
            <p:spPr>
              <a:xfrm>
                <a:off x="1586617" y="2571332"/>
                <a:ext cx="1270739" cy="589038"/>
              </a:xfrm>
              <a:prstGeom prst="flowChartProcess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lIns="0" rIns="0" rtlCol="0" anchor="ctr"/>
              <a:lstStyle/>
              <a:p>
                <a:pPr algn="ctr"/>
                <a:endParaRPr lang="en-US" sz="800" dirty="0"/>
              </a:p>
              <a:p>
                <a:pPr algn="ctr"/>
                <a:r>
                  <a:rPr lang="en-US" sz="800" dirty="0"/>
                  <a:t>Request Temporary "Read-Only" Access or Request Data Sample</a:t>
                </a:r>
                <a:endParaRPr lang="en-PH" sz="800" dirty="0"/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4025FCB-7240-DE78-D1D4-9F8A596AD9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6617" y="2738324"/>
                <a:ext cx="1262741" cy="0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2F52A0-7BEC-4863-27D1-74FFAC72FB53}"/>
                </a:ext>
              </a:extLst>
            </p:cNvPr>
            <p:cNvSpPr txBox="1"/>
            <p:nvPr/>
          </p:nvSpPr>
          <p:spPr>
            <a:xfrm>
              <a:off x="1609593" y="2656416"/>
              <a:ext cx="1143000" cy="23691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PH" sz="800" dirty="0"/>
                <a:t>System Process</a:t>
              </a:r>
            </a:p>
          </p:txBody>
        </p:sp>
      </p:grpSp>
      <p:sp>
        <p:nvSpPr>
          <p:cNvPr id="12" name="Flowchart: Magnetic Disk 11">
            <a:extLst>
              <a:ext uri="{FF2B5EF4-FFF2-40B4-BE49-F238E27FC236}">
                <a16:creationId xmlns:a16="http://schemas.microsoft.com/office/drawing/2014/main" id="{076BA1EB-EEEA-C2EB-0D23-9600BABEE54E}"/>
              </a:ext>
            </a:extLst>
          </p:cNvPr>
          <p:cNvSpPr>
            <a:spLocks noChangeAspect="1"/>
          </p:cNvSpPr>
          <p:nvPr/>
        </p:nvSpPr>
        <p:spPr>
          <a:xfrm>
            <a:off x="1895924" y="3683556"/>
            <a:ext cx="960120" cy="640080"/>
          </a:xfrm>
          <a:prstGeom prst="flowChartMagneticDisk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Branch Database</a:t>
            </a:r>
          </a:p>
        </p:txBody>
      </p:sp>
      <p:sp>
        <p:nvSpPr>
          <p:cNvPr id="13" name="Flowchart: Merge 12">
            <a:extLst>
              <a:ext uri="{FF2B5EF4-FFF2-40B4-BE49-F238E27FC236}">
                <a16:creationId xmlns:a16="http://schemas.microsoft.com/office/drawing/2014/main" id="{FCE210C6-D6E7-38A2-12D2-E8BCA084F903}"/>
              </a:ext>
            </a:extLst>
          </p:cNvPr>
          <p:cNvSpPr>
            <a:spLocks noChangeAspect="1"/>
          </p:cNvSpPr>
          <p:nvPr/>
        </p:nvSpPr>
        <p:spPr>
          <a:xfrm>
            <a:off x="6167691" y="3761114"/>
            <a:ext cx="796054" cy="492044"/>
          </a:xfrm>
          <a:prstGeom prst="flowChartMerg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File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46D25EF-E1CB-DF3A-B9F9-2C14B180FCCC}"/>
              </a:ext>
            </a:extLst>
          </p:cNvPr>
          <p:cNvCxnSpPr>
            <a:cxnSpLocks/>
            <a:stCxn id="18" idx="3"/>
            <a:endCxn id="17" idx="1"/>
          </p:cNvCxnSpPr>
          <p:nvPr/>
        </p:nvCxnSpPr>
        <p:spPr>
          <a:xfrm>
            <a:off x="1406060" y="2451379"/>
            <a:ext cx="705659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DA682698-BAB2-1DC7-BF36-8B1201F9068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08" r="7377"/>
          <a:stretch/>
        </p:blipFill>
        <p:spPr>
          <a:xfrm>
            <a:off x="6819669" y="2100280"/>
            <a:ext cx="877824" cy="73152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6735B57-F0AD-DCA3-4CBE-E1468B4F5AA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2111719" y="2085619"/>
            <a:ext cx="292608" cy="731520"/>
          </a:xfrm>
          <a:prstGeom prst="rect">
            <a:avLst/>
          </a:prstGeom>
        </p:spPr>
      </p:pic>
      <p:sp>
        <p:nvSpPr>
          <p:cNvPr id="18" name="Flowchart: Terminator 17">
            <a:extLst>
              <a:ext uri="{FF2B5EF4-FFF2-40B4-BE49-F238E27FC236}">
                <a16:creationId xmlns:a16="http://schemas.microsoft.com/office/drawing/2014/main" id="{892B57C5-0DE8-9B88-5706-2159B5E5BE84}"/>
              </a:ext>
            </a:extLst>
          </p:cNvPr>
          <p:cNvSpPr/>
          <p:nvPr/>
        </p:nvSpPr>
        <p:spPr>
          <a:xfrm>
            <a:off x="842899" y="2300503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Start</a:t>
            </a:r>
          </a:p>
        </p:txBody>
      </p:sp>
      <p:sp>
        <p:nvSpPr>
          <p:cNvPr id="19" name="Flowchart: Terminator 18">
            <a:extLst>
              <a:ext uri="{FF2B5EF4-FFF2-40B4-BE49-F238E27FC236}">
                <a16:creationId xmlns:a16="http://schemas.microsoft.com/office/drawing/2014/main" id="{F9064C63-8F7F-63D5-F25D-74E0309524ED}"/>
              </a:ext>
            </a:extLst>
          </p:cNvPr>
          <p:cNvSpPr/>
          <p:nvPr/>
        </p:nvSpPr>
        <p:spPr>
          <a:xfrm>
            <a:off x="7491916" y="3859694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End</a:t>
            </a:r>
          </a:p>
        </p:txBody>
      </p: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7F8F7F78-B009-A694-08BB-98B2EAA6DF71}"/>
              </a:ext>
            </a:extLst>
          </p:cNvPr>
          <p:cNvSpPr>
            <a:spLocks noChangeAspect="1"/>
          </p:cNvSpPr>
          <p:nvPr/>
        </p:nvSpPr>
        <p:spPr>
          <a:xfrm>
            <a:off x="8467291" y="2313660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sp>
        <p:nvSpPr>
          <p:cNvPr id="27" name="Flowchart: Connector 26">
            <a:extLst>
              <a:ext uri="{FF2B5EF4-FFF2-40B4-BE49-F238E27FC236}">
                <a16:creationId xmlns:a16="http://schemas.microsoft.com/office/drawing/2014/main" id="{36C16BF8-9E0B-DC02-8927-DB62518FD6E2}"/>
              </a:ext>
            </a:extLst>
          </p:cNvPr>
          <p:cNvSpPr>
            <a:spLocks noChangeAspect="1"/>
          </p:cNvSpPr>
          <p:nvPr/>
        </p:nvSpPr>
        <p:spPr>
          <a:xfrm>
            <a:off x="913417" y="3850550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sp>
        <p:nvSpPr>
          <p:cNvPr id="28" name="Flowchart: Alternate Process 27">
            <a:extLst>
              <a:ext uri="{FF2B5EF4-FFF2-40B4-BE49-F238E27FC236}">
                <a16:creationId xmlns:a16="http://schemas.microsoft.com/office/drawing/2014/main" id="{E67E4D8B-14EE-E843-BFEE-F99F1A482E07}"/>
              </a:ext>
            </a:extLst>
          </p:cNvPr>
          <p:cNvSpPr>
            <a:spLocks noChangeAspect="1"/>
          </p:cNvSpPr>
          <p:nvPr/>
        </p:nvSpPr>
        <p:spPr>
          <a:xfrm>
            <a:off x="4295819" y="3690530"/>
            <a:ext cx="887366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Execute Audit Procedures &amp; Control Testing</a:t>
            </a:r>
            <a:endParaRPr lang="en-PH" sz="800" dirty="0"/>
          </a:p>
        </p:txBody>
      </p:sp>
      <p:sp>
        <p:nvSpPr>
          <p:cNvPr id="29" name="Flowchart: Document 28">
            <a:extLst>
              <a:ext uri="{FF2B5EF4-FFF2-40B4-BE49-F238E27FC236}">
                <a16:creationId xmlns:a16="http://schemas.microsoft.com/office/drawing/2014/main" id="{99168BDE-9B29-7869-065D-51EDDD9680CB}"/>
              </a:ext>
            </a:extLst>
          </p:cNvPr>
          <p:cNvSpPr>
            <a:spLocks noChangeAspect="1"/>
          </p:cNvSpPr>
          <p:nvPr/>
        </p:nvSpPr>
        <p:spPr>
          <a:xfrm>
            <a:off x="4929819" y="4270437"/>
            <a:ext cx="719220" cy="440385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Audit Working Papers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3EEE4C2-16EB-5140-B9F5-FC4D8A96AE4A}"/>
              </a:ext>
            </a:extLst>
          </p:cNvPr>
          <p:cNvCxnSpPr>
            <a:cxnSpLocks/>
            <a:stCxn id="17" idx="3"/>
            <a:endCxn id="4" idx="1"/>
          </p:cNvCxnSpPr>
          <p:nvPr/>
        </p:nvCxnSpPr>
        <p:spPr>
          <a:xfrm>
            <a:off x="2404327" y="2451379"/>
            <a:ext cx="687661" cy="305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CA3A477-1156-5179-8081-C60395B835A4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4211969" y="2451379"/>
            <a:ext cx="724083" cy="305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7C0C91C-AA71-E0B1-0570-142DC240F665}"/>
              </a:ext>
            </a:extLst>
          </p:cNvPr>
          <p:cNvSpPr txBox="1"/>
          <p:nvPr/>
        </p:nvSpPr>
        <p:spPr>
          <a:xfrm>
            <a:off x="6814508" y="2837694"/>
            <a:ext cx="108487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Department (e.g., Branch Ops / HR / IT)</a:t>
            </a:r>
            <a:endParaRPr lang="en-PH" sz="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3930A7F-ED2F-A7EC-66EB-CDD3D5D694FE}"/>
              </a:ext>
            </a:extLst>
          </p:cNvPr>
          <p:cNvSpPr txBox="1"/>
          <p:nvPr/>
        </p:nvSpPr>
        <p:spPr>
          <a:xfrm>
            <a:off x="1715585" y="2860293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Internal Auditor</a:t>
            </a:r>
            <a:endParaRPr lang="en-PH" sz="800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1D68797-0A77-17A4-C137-FC445390FC54}"/>
              </a:ext>
            </a:extLst>
          </p:cNvPr>
          <p:cNvCxnSpPr>
            <a:cxnSpLocks/>
            <a:stCxn id="9" idx="3"/>
            <a:endCxn id="16" idx="1"/>
          </p:cNvCxnSpPr>
          <p:nvPr/>
        </p:nvCxnSpPr>
        <p:spPr>
          <a:xfrm>
            <a:off x="6167691" y="2451379"/>
            <a:ext cx="651978" cy="14661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C16ADA4-9C04-959E-ABC8-33C0ECE2C132}"/>
              </a:ext>
            </a:extLst>
          </p:cNvPr>
          <p:cNvCxnSpPr>
            <a:cxnSpLocks/>
            <a:stCxn id="16" idx="3"/>
            <a:endCxn id="20" idx="2"/>
          </p:cNvCxnSpPr>
          <p:nvPr/>
        </p:nvCxnSpPr>
        <p:spPr>
          <a:xfrm>
            <a:off x="7697493" y="2466040"/>
            <a:ext cx="769798" cy="764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E7DF8BD-2A79-40E9-F29F-18FD18822183}"/>
              </a:ext>
            </a:extLst>
          </p:cNvPr>
          <p:cNvCxnSpPr>
            <a:cxnSpLocks/>
            <a:stCxn id="27" idx="6"/>
            <a:endCxn id="12" idx="2"/>
          </p:cNvCxnSpPr>
          <p:nvPr/>
        </p:nvCxnSpPr>
        <p:spPr>
          <a:xfrm flipV="1">
            <a:off x="1233457" y="4003596"/>
            <a:ext cx="662467" cy="697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lowchart: Document 10">
            <a:extLst>
              <a:ext uri="{FF2B5EF4-FFF2-40B4-BE49-F238E27FC236}">
                <a16:creationId xmlns:a16="http://schemas.microsoft.com/office/drawing/2014/main" id="{DB24F8CE-F097-8D03-33DE-B69161F70379}"/>
              </a:ext>
            </a:extLst>
          </p:cNvPr>
          <p:cNvSpPr>
            <a:spLocks noChangeAspect="1"/>
          </p:cNvSpPr>
          <p:nvPr/>
        </p:nvSpPr>
        <p:spPr>
          <a:xfrm>
            <a:off x="2554044" y="4242339"/>
            <a:ext cx="1334564" cy="599384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Extracted Sampled Data / Evidence (Contains PI/SPI of Members/Employees)</a:t>
            </a:r>
            <a:endParaRPr lang="en-PH" sz="800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F552FAB-9704-76AC-BC9F-7A403765DBED}"/>
              </a:ext>
            </a:extLst>
          </p:cNvPr>
          <p:cNvCxnSpPr>
            <a:cxnSpLocks/>
            <a:stCxn id="12" idx="4"/>
            <a:endCxn id="28" idx="1"/>
          </p:cNvCxnSpPr>
          <p:nvPr/>
        </p:nvCxnSpPr>
        <p:spPr>
          <a:xfrm>
            <a:off x="2856044" y="4003596"/>
            <a:ext cx="1439775" cy="697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65B29CD-2263-9A9D-EFFA-F6FC0708DC33}"/>
              </a:ext>
            </a:extLst>
          </p:cNvPr>
          <p:cNvCxnSpPr>
            <a:cxnSpLocks/>
            <a:stCxn id="28" idx="3"/>
            <a:endCxn id="13" idx="1"/>
          </p:cNvCxnSpPr>
          <p:nvPr/>
        </p:nvCxnSpPr>
        <p:spPr>
          <a:xfrm flipV="1">
            <a:off x="5183185" y="4007136"/>
            <a:ext cx="1183520" cy="343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C48E71A-4E3B-7456-80A6-A571FB08F0C0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>
            <a:off x="6764732" y="4007136"/>
            <a:ext cx="727184" cy="343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5A7AA7BD-0E72-9891-881C-B1544F7776BC}"/>
              </a:ext>
            </a:extLst>
          </p:cNvPr>
          <p:cNvSpPr txBox="1"/>
          <p:nvPr/>
        </p:nvSpPr>
        <p:spPr>
          <a:xfrm>
            <a:off x="2019583" y="1369350"/>
            <a:ext cx="58204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This flow captures how auditors extract and handle sensitive member/employee data.</a:t>
            </a:r>
            <a:endParaRPr lang="en-PH" sz="1000" i="1" dirty="0">
              <a:latin typeface="Verdana" panose="020B0604030504040204" pitchFamily="34" charset="0"/>
              <a:ea typeface="Verdana" panose="020B0604030504040204" pitchFamily="34" charset="0"/>
              <a:cs typeface="Ebrima" panose="02000000000000000000" pitchFamily="2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0BA9B70-D840-9F18-9701-C073F926D405}"/>
              </a:ext>
            </a:extLst>
          </p:cNvPr>
          <p:cNvSpPr txBox="1"/>
          <p:nvPr/>
        </p:nvSpPr>
        <p:spPr>
          <a:xfrm>
            <a:off x="6043448" y="4275185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PH" sz="800" dirty="0"/>
              <a:t>Secure Audit Storage</a:t>
            </a:r>
          </a:p>
        </p:txBody>
      </p:sp>
    </p:spTree>
    <p:extLst>
      <p:ext uri="{BB962C8B-B14F-4D97-AF65-F5344CB8AC3E}">
        <p14:creationId xmlns:p14="http://schemas.microsoft.com/office/powerpoint/2010/main" val="2971641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F793FB-680B-820E-75F5-047ADDA85497}"/>
              </a:ext>
            </a:extLst>
          </p:cNvPr>
          <p:cNvSpPr txBox="1"/>
          <p:nvPr/>
        </p:nvSpPr>
        <p:spPr>
          <a:xfrm>
            <a:off x="1310550" y="397701"/>
            <a:ext cx="4932480" cy="318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Internal Audit Department</a:t>
            </a:r>
            <a:endParaRPr lang="en-PH" sz="1400" b="1" dirty="0">
              <a:solidFill>
                <a:srgbClr val="00206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601CF5-0250-0E4D-CEF0-6DCE00B82532}"/>
              </a:ext>
            </a:extLst>
          </p:cNvPr>
          <p:cNvSpPr txBox="1"/>
          <p:nvPr/>
        </p:nvSpPr>
        <p:spPr>
          <a:xfrm>
            <a:off x="150128" y="1041421"/>
            <a:ext cx="9646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Fraud Investigation &amp; Whistleblower Handling</a:t>
            </a:r>
            <a:endParaRPr lang="en-PH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C235146-F204-76BD-CAD3-03A8843862E4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>
            <a:off x="1334940" y="2298979"/>
            <a:ext cx="569840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101C3F02-B391-0C57-2458-6FB5741921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1904780" y="1933219"/>
            <a:ext cx="292608" cy="731520"/>
          </a:xfrm>
          <a:prstGeom prst="rect">
            <a:avLst/>
          </a:prstGeom>
        </p:spPr>
      </p:pic>
      <p:sp>
        <p:nvSpPr>
          <p:cNvPr id="16" name="Flowchart: Terminator 15">
            <a:extLst>
              <a:ext uri="{FF2B5EF4-FFF2-40B4-BE49-F238E27FC236}">
                <a16:creationId xmlns:a16="http://schemas.microsoft.com/office/drawing/2014/main" id="{4888D2D3-8478-75CC-03E5-39DD66D8E6C2}"/>
              </a:ext>
            </a:extLst>
          </p:cNvPr>
          <p:cNvSpPr/>
          <p:nvPr/>
        </p:nvSpPr>
        <p:spPr>
          <a:xfrm>
            <a:off x="771779" y="2148103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Start</a:t>
            </a:r>
          </a:p>
        </p:txBody>
      </p:sp>
      <p:sp>
        <p:nvSpPr>
          <p:cNvPr id="18" name="Flowchart: Connector 17">
            <a:extLst>
              <a:ext uri="{FF2B5EF4-FFF2-40B4-BE49-F238E27FC236}">
                <a16:creationId xmlns:a16="http://schemas.microsoft.com/office/drawing/2014/main" id="{EF76CC79-B85F-512B-3CC7-4622D8EDD501}"/>
              </a:ext>
            </a:extLst>
          </p:cNvPr>
          <p:cNvSpPr>
            <a:spLocks noChangeAspect="1"/>
          </p:cNvSpPr>
          <p:nvPr/>
        </p:nvSpPr>
        <p:spPr>
          <a:xfrm>
            <a:off x="8891858" y="2146289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sp>
        <p:nvSpPr>
          <p:cNvPr id="19" name="Flowchart: Connector 18">
            <a:extLst>
              <a:ext uri="{FF2B5EF4-FFF2-40B4-BE49-F238E27FC236}">
                <a16:creationId xmlns:a16="http://schemas.microsoft.com/office/drawing/2014/main" id="{CEE174DA-64FC-BD0B-B2E0-E0D38F4600CD}"/>
              </a:ext>
            </a:extLst>
          </p:cNvPr>
          <p:cNvSpPr>
            <a:spLocks noChangeAspect="1"/>
          </p:cNvSpPr>
          <p:nvPr/>
        </p:nvSpPr>
        <p:spPr>
          <a:xfrm>
            <a:off x="842297" y="3586390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234C98C-3761-1FE4-39D6-C409BBC812F5}"/>
              </a:ext>
            </a:extLst>
          </p:cNvPr>
          <p:cNvCxnSpPr>
            <a:cxnSpLocks/>
            <a:stCxn id="15" idx="3"/>
            <a:endCxn id="34" idx="1"/>
          </p:cNvCxnSpPr>
          <p:nvPr/>
        </p:nvCxnSpPr>
        <p:spPr>
          <a:xfrm>
            <a:off x="2197388" y="2298979"/>
            <a:ext cx="569840" cy="733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0430EB8-009E-85C5-BDA1-7A6E4151CA16}"/>
              </a:ext>
            </a:extLst>
          </p:cNvPr>
          <p:cNvCxnSpPr>
            <a:cxnSpLocks/>
            <a:stCxn id="34" idx="3"/>
            <a:endCxn id="45" idx="1"/>
          </p:cNvCxnSpPr>
          <p:nvPr/>
        </p:nvCxnSpPr>
        <p:spPr>
          <a:xfrm>
            <a:off x="3594028" y="2306309"/>
            <a:ext cx="595634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B713715-D6B2-4E66-8576-C7C660D4D009}"/>
              </a:ext>
            </a:extLst>
          </p:cNvPr>
          <p:cNvSpPr txBox="1"/>
          <p:nvPr/>
        </p:nvSpPr>
        <p:spPr>
          <a:xfrm>
            <a:off x="1508646" y="2682648"/>
            <a:ext cx="1084876" cy="461665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Complainant/ Whistleblower/ Concerned Employee</a:t>
            </a:r>
            <a:endParaRPr lang="en-PH" sz="8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66F6CA3-B238-549C-6A7D-AFA696FA77C6}"/>
              </a:ext>
            </a:extLst>
          </p:cNvPr>
          <p:cNvCxnSpPr>
            <a:cxnSpLocks/>
            <a:stCxn id="45" idx="3"/>
            <a:endCxn id="33" idx="1"/>
          </p:cNvCxnSpPr>
          <p:nvPr/>
        </p:nvCxnSpPr>
        <p:spPr>
          <a:xfrm flipV="1">
            <a:off x="5067486" y="2298979"/>
            <a:ext cx="577202" cy="733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EB33961-E753-AEC5-6C1E-731648A20BF9}"/>
              </a:ext>
            </a:extLst>
          </p:cNvPr>
          <p:cNvCxnSpPr>
            <a:cxnSpLocks/>
            <a:stCxn id="65" idx="3"/>
            <a:endCxn id="18" idx="2"/>
          </p:cNvCxnSpPr>
          <p:nvPr/>
        </p:nvCxnSpPr>
        <p:spPr>
          <a:xfrm>
            <a:off x="8366519" y="2306309"/>
            <a:ext cx="525339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B4363A5-7B59-9F1F-32BA-D6F4EA9AA2CD}"/>
              </a:ext>
            </a:extLst>
          </p:cNvPr>
          <p:cNvCxnSpPr>
            <a:cxnSpLocks/>
            <a:stCxn id="19" idx="6"/>
            <a:endCxn id="29" idx="1"/>
          </p:cNvCxnSpPr>
          <p:nvPr/>
        </p:nvCxnSpPr>
        <p:spPr>
          <a:xfrm>
            <a:off x="1162337" y="3746410"/>
            <a:ext cx="610381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Document 28">
            <a:extLst>
              <a:ext uri="{FF2B5EF4-FFF2-40B4-BE49-F238E27FC236}">
                <a16:creationId xmlns:a16="http://schemas.microsoft.com/office/drawing/2014/main" id="{0FF18ADB-3697-3FCB-E983-89AAC5774831}"/>
              </a:ext>
            </a:extLst>
          </p:cNvPr>
          <p:cNvSpPr>
            <a:spLocks noChangeAspect="1"/>
          </p:cNvSpPr>
          <p:nvPr/>
        </p:nvSpPr>
        <p:spPr>
          <a:xfrm>
            <a:off x="1772718" y="3446718"/>
            <a:ext cx="1334564" cy="599384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Draft Investigation Report (Contains SPI / Legal Offense Data)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43D87E-8748-DA22-75A9-4B4976B48D38}"/>
              </a:ext>
            </a:extLst>
          </p:cNvPr>
          <p:cNvCxnSpPr>
            <a:cxnSpLocks/>
            <a:stCxn id="29" idx="3"/>
            <a:endCxn id="79" idx="1"/>
          </p:cNvCxnSpPr>
          <p:nvPr/>
        </p:nvCxnSpPr>
        <p:spPr>
          <a:xfrm>
            <a:off x="3107282" y="3746410"/>
            <a:ext cx="549403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lowchart: Alternate Process 32">
            <a:extLst>
              <a:ext uri="{FF2B5EF4-FFF2-40B4-BE49-F238E27FC236}">
                <a16:creationId xmlns:a16="http://schemas.microsoft.com/office/drawing/2014/main" id="{8F636A9E-0375-79B7-2695-CB6A227F5DFF}"/>
              </a:ext>
            </a:extLst>
          </p:cNvPr>
          <p:cNvSpPr>
            <a:spLocks noChangeAspect="1"/>
          </p:cNvSpPr>
          <p:nvPr/>
        </p:nvSpPr>
        <p:spPr>
          <a:xfrm>
            <a:off x="5644688" y="1978939"/>
            <a:ext cx="1119981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Conduct Confidential Investigation &amp; Fact-Finding</a:t>
            </a:r>
          </a:p>
        </p:txBody>
      </p:sp>
      <p:sp>
        <p:nvSpPr>
          <p:cNvPr id="34" name="Flowchart: Document 33">
            <a:extLst>
              <a:ext uri="{FF2B5EF4-FFF2-40B4-BE49-F238E27FC236}">
                <a16:creationId xmlns:a16="http://schemas.microsoft.com/office/drawing/2014/main" id="{1837F4CF-FDF8-B10F-9C28-DF766AC2CC8E}"/>
              </a:ext>
            </a:extLst>
          </p:cNvPr>
          <p:cNvSpPr>
            <a:spLocks noChangeAspect="1"/>
          </p:cNvSpPr>
          <p:nvPr/>
        </p:nvSpPr>
        <p:spPr>
          <a:xfrm>
            <a:off x="2767228" y="2028965"/>
            <a:ext cx="826800" cy="554688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Incident Report / Anonymous Tip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95349425-2047-0D32-82A0-DC2E01F5932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51" r="13730"/>
          <a:stretch/>
        </p:blipFill>
        <p:spPr>
          <a:xfrm>
            <a:off x="4189662" y="1940549"/>
            <a:ext cx="877824" cy="73152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D5C99045-EAE4-9FA7-8CB6-6CB078BDB163}"/>
              </a:ext>
            </a:extLst>
          </p:cNvPr>
          <p:cNvSpPr txBox="1"/>
          <p:nvPr/>
        </p:nvSpPr>
        <p:spPr>
          <a:xfrm>
            <a:off x="4036394" y="2668145"/>
            <a:ext cx="108487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Internal Audit Head/ Team</a:t>
            </a:r>
            <a:endParaRPr lang="en-PH" sz="800" dirty="0"/>
          </a:p>
        </p:txBody>
      </p:sp>
      <p:sp>
        <p:nvSpPr>
          <p:cNvPr id="65" name="Flowchart: Alternate Process 64">
            <a:extLst>
              <a:ext uri="{FF2B5EF4-FFF2-40B4-BE49-F238E27FC236}">
                <a16:creationId xmlns:a16="http://schemas.microsoft.com/office/drawing/2014/main" id="{42A90D48-0393-B5A3-7675-084CF913A709}"/>
              </a:ext>
            </a:extLst>
          </p:cNvPr>
          <p:cNvSpPr>
            <a:spLocks noChangeAspect="1"/>
          </p:cNvSpPr>
          <p:nvPr/>
        </p:nvSpPr>
        <p:spPr>
          <a:xfrm>
            <a:off x="7290008" y="1986269"/>
            <a:ext cx="1076511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Redact/Anonymize Irrelevant Personal Data of third parties</a:t>
            </a:r>
            <a:endParaRPr lang="en-PH" sz="800" dirty="0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EAB7526-5816-5117-99E3-1E2CD8237834}"/>
              </a:ext>
            </a:extLst>
          </p:cNvPr>
          <p:cNvCxnSpPr>
            <a:cxnSpLocks/>
            <a:stCxn id="33" idx="3"/>
            <a:endCxn id="65" idx="1"/>
          </p:cNvCxnSpPr>
          <p:nvPr/>
        </p:nvCxnSpPr>
        <p:spPr>
          <a:xfrm>
            <a:off x="6764669" y="2298979"/>
            <a:ext cx="525339" cy="733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Flowchart: Decision 78">
            <a:extLst>
              <a:ext uri="{FF2B5EF4-FFF2-40B4-BE49-F238E27FC236}">
                <a16:creationId xmlns:a16="http://schemas.microsoft.com/office/drawing/2014/main" id="{5F53040F-A8BB-9E2D-4453-BAE1D7C3193B}"/>
              </a:ext>
            </a:extLst>
          </p:cNvPr>
          <p:cNvSpPr>
            <a:spLocks noChangeAspect="1"/>
          </p:cNvSpPr>
          <p:nvPr/>
        </p:nvSpPr>
        <p:spPr>
          <a:xfrm>
            <a:off x="3656685" y="3426370"/>
            <a:ext cx="1084874" cy="640080"/>
          </a:xfrm>
          <a:prstGeom prst="flowChartDecisio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Is Legal Action Required?</a:t>
            </a: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9F8F60EE-2E2D-DD19-FE99-15A2AC7042B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5628203" y="3373428"/>
            <a:ext cx="292608" cy="73152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73F1FA6A-EE2A-0DE7-F190-566E8FB3065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4052818" y="4515939"/>
            <a:ext cx="292608" cy="731520"/>
          </a:xfrm>
          <a:prstGeom prst="rect">
            <a:avLst/>
          </a:prstGeom>
        </p:spPr>
      </p:pic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37169594-B022-4C39-3DA0-711E61E89912}"/>
              </a:ext>
            </a:extLst>
          </p:cNvPr>
          <p:cNvCxnSpPr>
            <a:cxnSpLocks/>
            <a:stCxn id="79" idx="3"/>
            <a:endCxn id="83" idx="1"/>
          </p:cNvCxnSpPr>
          <p:nvPr/>
        </p:nvCxnSpPr>
        <p:spPr>
          <a:xfrm flipV="1">
            <a:off x="4741559" y="3739188"/>
            <a:ext cx="886644" cy="7222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2F798ECE-1E68-51EF-C810-13D7B5BE1F86}"/>
              </a:ext>
            </a:extLst>
          </p:cNvPr>
          <p:cNvCxnSpPr>
            <a:cxnSpLocks/>
            <a:stCxn id="79" idx="2"/>
            <a:endCxn id="84" idx="0"/>
          </p:cNvCxnSpPr>
          <p:nvPr/>
        </p:nvCxnSpPr>
        <p:spPr>
          <a:xfrm>
            <a:off x="4199122" y="4066450"/>
            <a:ext cx="0" cy="449489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36A1E858-5133-6BC6-E9CB-013B7499291B}"/>
              </a:ext>
            </a:extLst>
          </p:cNvPr>
          <p:cNvSpPr txBox="1"/>
          <p:nvPr/>
        </p:nvSpPr>
        <p:spPr>
          <a:xfrm>
            <a:off x="4613983" y="3576685"/>
            <a:ext cx="506184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YES</a:t>
            </a:r>
            <a:endParaRPr lang="en-PH" sz="8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30B01AF-38C9-C4B5-0D27-9995D8AF4C11}"/>
              </a:ext>
            </a:extLst>
          </p:cNvPr>
          <p:cNvSpPr txBox="1"/>
          <p:nvPr/>
        </p:nvSpPr>
        <p:spPr>
          <a:xfrm>
            <a:off x="4077153" y="4046102"/>
            <a:ext cx="506184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NO</a:t>
            </a:r>
            <a:endParaRPr lang="en-PH" sz="8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51004D4-CD2F-32F6-1E3E-DD9621DB8002}"/>
              </a:ext>
            </a:extLst>
          </p:cNvPr>
          <p:cNvSpPr txBox="1"/>
          <p:nvPr/>
        </p:nvSpPr>
        <p:spPr>
          <a:xfrm>
            <a:off x="5305987" y="4112170"/>
            <a:ext cx="937043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Route securely to Legal Department</a:t>
            </a:r>
            <a:endParaRPr lang="en-PH" sz="8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4EF393C-4194-CA84-9711-8092A908C383}"/>
              </a:ext>
            </a:extLst>
          </p:cNvPr>
          <p:cNvSpPr txBox="1"/>
          <p:nvPr/>
        </p:nvSpPr>
        <p:spPr>
          <a:xfrm>
            <a:off x="4368944" y="4712001"/>
            <a:ext cx="1275744" cy="461665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Route securely to Board of Directors (BOD) / HR for Administrative Sanction.</a:t>
            </a:r>
            <a:endParaRPr lang="en-PH" sz="800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60C26F89-5A16-E91E-194F-8AAEF8F285F9}"/>
              </a:ext>
            </a:extLst>
          </p:cNvPr>
          <p:cNvCxnSpPr>
            <a:cxnSpLocks/>
            <a:stCxn id="83" idx="3"/>
            <a:endCxn id="98" idx="1"/>
          </p:cNvCxnSpPr>
          <p:nvPr/>
        </p:nvCxnSpPr>
        <p:spPr>
          <a:xfrm>
            <a:off x="5920811" y="3739188"/>
            <a:ext cx="763285" cy="7222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Flowchart: Terminator 97">
            <a:extLst>
              <a:ext uri="{FF2B5EF4-FFF2-40B4-BE49-F238E27FC236}">
                <a16:creationId xmlns:a16="http://schemas.microsoft.com/office/drawing/2014/main" id="{0F0E3928-FEFF-BA13-5D97-40C9A6BE3235}"/>
              </a:ext>
            </a:extLst>
          </p:cNvPr>
          <p:cNvSpPr/>
          <p:nvPr/>
        </p:nvSpPr>
        <p:spPr>
          <a:xfrm>
            <a:off x="6684096" y="3595534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End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B779BFA-44C2-5963-BAB5-F6ED8C4D1742}"/>
              </a:ext>
            </a:extLst>
          </p:cNvPr>
          <p:cNvSpPr txBox="1"/>
          <p:nvPr/>
        </p:nvSpPr>
        <p:spPr>
          <a:xfrm>
            <a:off x="250704" y="5597238"/>
            <a:ext cx="554049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Notes:</a:t>
            </a:r>
          </a:p>
          <a:p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Whistleblower identities and investigation working papers are classified as strictly confidential. Files are encrypted and access is limited strictly to the assigned Special Audit Team.</a:t>
            </a:r>
            <a:r>
              <a:rPr lang="en-US" sz="1000" b="1" i="1" dirty="0">
                <a:latin typeface="Verdana" panose="020B0604030504040204" pitchFamily="34" charset="0"/>
                <a:ea typeface="Verdana" panose="020B0604030504040204" pitchFamily="34" charset="0"/>
              </a:rPr>
              <a:t>	</a:t>
            </a:r>
          </a:p>
          <a:p>
            <a:endParaRPr lang="en-PH" sz="1000" b="1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F8EF155-4783-8991-80ED-81577A40AF1B}"/>
              </a:ext>
            </a:extLst>
          </p:cNvPr>
          <p:cNvSpPr txBox="1"/>
          <p:nvPr/>
        </p:nvSpPr>
        <p:spPr>
          <a:xfrm>
            <a:off x="1831323" y="1399076"/>
            <a:ext cx="58204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This flow handles the highly sensitive intake and investigation of anomalies.</a:t>
            </a:r>
            <a:endParaRPr lang="en-PH" sz="1000" i="1" dirty="0">
              <a:latin typeface="Verdana" panose="020B0604030504040204" pitchFamily="34" charset="0"/>
              <a:ea typeface="Verdana" panose="020B0604030504040204" pitchFamily="34" charset="0"/>
              <a:cs typeface="Ebrima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545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E2354-9550-FBE1-86BA-7A8A25D06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9AF3CC-7B1B-93E2-1182-2D4C245497B3}"/>
              </a:ext>
            </a:extLst>
          </p:cNvPr>
          <p:cNvSpPr txBox="1"/>
          <p:nvPr/>
        </p:nvSpPr>
        <p:spPr>
          <a:xfrm>
            <a:off x="1310550" y="397701"/>
            <a:ext cx="4932480" cy="318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Internal Audit Department</a:t>
            </a:r>
            <a:endParaRPr lang="en-PH" sz="1400" b="1" dirty="0">
              <a:solidFill>
                <a:srgbClr val="00206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4D96FD-EBD6-0115-4A36-3E66EE4CA4E2}"/>
              </a:ext>
            </a:extLst>
          </p:cNvPr>
          <p:cNvSpPr txBox="1"/>
          <p:nvPr/>
        </p:nvSpPr>
        <p:spPr>
          <a:xfrm>
            <a:off x="150128" y="1041421"/>
            <a:ext cx="9646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Audit Reporting, Issue Tracking, and Data Disposal</a:t>
            </a:r>
            <a:endParaRPr lang="en-PH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B77A-1FDE-A6B3-FDD0-AC6A5017A0D4}"/>
              </a:ext>
            </a:extLst>
          </p:cNvPr>
          <p:cNvSpPr txBox="1"/>
          <p:nvPr/>
        </p:nvSpPr>
        <p:spPr>
          <a:xfrm>
            <a:off x="1752902" y="1397581"/>
            <a:ext cx="64001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This flow ensures data does not sit in the Internal Audit department forever after an audit.</a:t>
            </a:r>
            <a:endParaRPr lang="en-PH" sz="1000" i="1" dirty="0">
              <a:latin typeface="Verdana" panose="020B0604030504040204" pitchFamily="34" charset="0"/>
              <a:ea typeface="Verdana" panose="020B0604030504040204" pitchFamily="34" charset="0"/>
              <a:cs typeface="Ebrima" panose="02000000000000000000" pitchFamily="2" charset="0"/>
            </a:endParaRPr>
          </a:p>
        </p:txBody>
      </p:sp>
      <p:sp>
        <p:nvSpPr>
          <p:cNvPr id="7" name="Flowchart: Terminator 6">
            <a:extLst>
              <a:ext uri="{FF2B5EF4-FFF2-40B4-BE49-F238E27FC236}">
                <a16:creationId xmlns:a16="http://schemas.microsoft.com/office/drawing/2014/main" id="{446006DB-0A3F-6279-D09D-D0651B78B828}"/>
              </a:ext>
            </a:extLst>
          </p:cNvPr>
          <p:cNvSpPr/>
          <p:nvPr/>
        </p:nvSpPr>
        <p:spPr>
          <a:xfrm>
            <a:off x="700659" y="2148103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>
                <a:latin typeface="Verdana" panose="020B0604030504040204" pitchFamily="34" charset="0"/>
                <a:ea typeface="Verdana" panose="020B0604030504040204" pitchFamily="34" charset="0"/>
              </a:rPr>
              <a:t>Start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9708A2-F5F9-68A9-417F-BCB8EBD75C58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1263820" y="2293265"/>
            <a:ext cx="439303" cy="571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owchart: Terminator 8">
            <a:extLst>
              <a:ext uri="{FF2B5EF4-FFF2-40B4-BE49-F238E27FC236}">
                <a16:creationId xmlns:a16="http://schemas.microsoft.com/office/drawing/2014/main" id="{6609AE29-67A2-5869-A15A-F5B9885B0C72}"/>
              </a:ext>
            </a:extLst>
          </p:cNvPr>
          <p:cNvSpPr/>
          <p:nvPr/>
        </p:nvSpPr>
        <p:spPr>
          <a:xfrm>
            <a:off x="6970435" y="3554894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End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7A8942-D09E-1343-4152-8E8730FF5E22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flipV="1">
            <a:off x="2804079" y="2290942"/>
            <a:ext cx="495191" cy="2323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BDB9AF76-C6E4-9B1F-F469-F29BF7D2E99D}"/>
              </a:ext>
            </a:extLst>
          </p:cNvPr>
          <p:cNvSpPr>
            <a:spLocks noChangeAspect="1"/>
          </p:cNvSpPr>
          <p:nvPr/>
        </p:nvSpPr>
        <p:spPr>
          <a:xfrm>
            <a:off x="3299270" y="1970902"/>
            <a:ext cx="1100957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>
                <a:latin typeface="Verdana" panose="020B0604030504040204" pitchFamily="34" charset="0"/>
                <a:ea typeface="Verdana" panose="020B0604030504040204" pitchFamily="34" charset="0"/>
              </a:rPr>
              <a:t>Consolidate Audit Findings</a:t>
            </a:r>
          </a:p>
        </p:txBody>
      </p: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C6FC65AC-65A5-7DBA-7C6C-6EAE73C5BF28}"/>
              </a:ext>
            </a:extLst>
          </p:cNvPr>
          <p:cNvSpPr>
            <a:spLocks noChangeAspect="1"/>
          </p:cNvSpPr>
          <p:nvPr/>
        </p:nvSpPr>
        <p:spPr>
          <a:xfrm>
            <a:off x="1703123" y="1991676"/>
            <a:ext cx="1100956" cy="603177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Audit Working Papers (containing PI/SPI)</a:t>
            </a:r>
            <a:endParaRPr lang="en-PH" sz="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D8D9502E-9221-92C9-8905-B6D940DAEC3D}"/>
              </a:ext>
            </a:extLst>
          </p:cNvPr>
          <p:cNvSpPr>
            <a:spLocks noChangeAspect="1"/>
          </p:cNvSpPr>
          <p:nvPr/>
        </p:nvSpPr>
        <p:spPr>
          <a:xfrm>
            <a:off x="3009103" y="3241430"/>
            <a:ext cx="1445250" cy="928679"/>
          </a:xfrm>
          <a:prstGeom prst="flowChartDecisio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Has the required Retention Period for Working Papers lapsed?</a:t>
            </a:r>
            <a:endParaRPr lang="en-PH" sz="8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E2B991F-63EC-37D9-110B-FEAB2A9A95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08" r="7377"/>
          <a:stretch/>
        </p:blipFill>
        <p:spPr>
          <a:xfrm>
            <a:off x="1669376" y="3324188"/>
            <a:ext cx="877824" cy="73152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585E72C-ADA9-50A6-E2B7-B10D338CBC8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4" t="8297" r="22572" b="16667"/>
          <a:stretch/>
        </p:blipFill>
        <p:spPr>
          <a:xfrm>
            <a:off x="4864938" y="1933219"/>
            <a:ext cx="877824" cy="731520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7DC1E68-6320-6818-E9EF-EBEFE55EC0C5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4400227" y="2290942"/>
            <a:ext cx="464711" cy="8037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3F15318-26B8-1B45-7F63-7A3298111C62}"/>
              </a:ext>
            </a:extLst>
          </p:cNvPr>
          <p:cNvSpPr txBox="1"/>
          <p:nvPr/>
        </p:nvSpPr>
        <p:spPr>
          <a:xfrm>
            <a:off x="4886637" y="2664739"/>
            <a:ext cx="108487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Branch Manager/ Dept. Heads</a:t>
            </a:r>
            <a:endParaRPr lang="en-PH" sz="800" dirty="0"/>
          </a:p>
        </p:txBody>
      </p:sp>
      <p:sp>
        <p:nvSpPr>
          <p:cNvPr id="31" name="Flowchart: Alternate Process 30">
            <a:extLst>
              <a:ext uri="{FF2B5EF4-FFF2-40B4-BE49-F238E27FC236}">
                <a16:creationId xmlns:a16="http://schemas.microsoft.com/office/drawing/2014/main" id="{F501484B-EC83-9A31-76EF-25AD0B88EACD}"/>
              </a:ext>
            </a:extLst>
          </p:cNvPr>
          <p:cNvSpPr>
            <a:spLocks noChangeAspect="1"/>
          </p:cNvSpPr>
          <p:nvPr/>
        </p:nvSpPr>
        <p:spPr>
          <a:xfrm>
            <a:off x="6366236" y="1970902"/>
            <a:ext cx="1100957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Exit Conference &amp; Confirmation of Audit Findings</a:t>
            </a:r>
            <a:endParaRPr lang="en-PH" sz="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39915C-A3A3-212E-3E90-D58E5186E4E6}"/>
              </a:ext>
            </a:extLst>
          </p:cNvPr>
          <p:cNvCxnSpPr>
            <a:cxnSpLocks/>
            <a:stCxn id="17" idx="3"/>
            <a:endCxn id="31" idx="1"/>
          </p:cNvCxnSpPr>
          <p:nvPr/>
        </p:nvCxnSpPr>
        <p:spPr>
          <a:xfrm flipV="1">
            <a:off x="5742762" y="2290942"/>
            <a:ext cx="623474" cy="8037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E6CAB997-44E1-0FAA-4FF4-0DB30DA281D7}"/>
              </a:ext>
            </a:extLst>
          </p:cNvPr>
          <p:cNvSpPr>
            <a:spLocks noChangeAspect="1"/>
          </p:cNvSpPr>
          <p:nvPr/>
        </p:nvSpPr>
        <p:spPr>
          <a:xfrm>
            <a:off x="8458581" y="2129815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3ACBA3F-42B2-CDFD-22BD-E2EE850497F0}"/>
              </a:ext>
            </a:extLst>
          </p:cNvPr>
          <p:cNvCxnSpPr>
            <a:cxnSpLocks/>
            <a:stCxn id="31" idx="3"/>
            <a:endCxn id="37" idx="2"/>
          </p:cNvCxnSpPr>
          <p:nvPr/>
        </p:nvCxnSpPr>
        <p:spPr>
          <a:xfrm flipV="1">
            <a:off x="7467193" y="2289835"/>
            <a:ext cx="991388" cy="1107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08F8781-5390-B96D-B407-AD236DE1D26E}"/>
              </a:ext>
            </a:extLst>
          </p:cNvPr>
          <p:cNvCxnSpPr>
            <a:cxnSpLocks/>
            <a:stCxn id="43" idx="6"/>
            <a:endCxn id="16" idx="1"/>
          </p:cNvCxnSpPr>
          <p:nvPr/>
        </p:nvCxnSpPr>
        <p:spPr>
          <a:xfrm flipV="1">
            <a:off x="1155700" y="3689948"/>
            <a:ext cx="513676" cy="667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lowchart: Connector 42">
            <a:extLst>
              <a:ext uri="{FF2B5EF4-FFF2-40B4-BE49-F238E27FC236}">
                <a16:creationId xmlns:a16="http://schemas.microsoft.com/office/drawing/2014/main" id="{B36E3771-3FC4-E721-C4AB-55002FB97BF8}"/>
              </a:ext>
            </a:extLst>
          </p:cNvPr>
          <p:cNvSpPr>
            <a:spLocks noChangeAspect="1"/>
          </p:cNvSpPr>
          <p:nvPr/>
        </p:nvSpPr>
        <p:spPr>
          <a:xfrm>
            <a:off x="835660" y="3536606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276423-56E6-4CAF-BB53-28649F6F5C67}"/>
              </a:ext>
            </a:extLst>
          </p:cNvPr>
          <p:cNvSpPr txBox="1"/>
          <p:nvPr/>
        </p:nvSpPr>
        <p:spPr>
          <a:xfrm>
            <a:off x="1616650" y="4069310"/>
            <a:ext cx="108487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Report to BOD and Audit Committee (AC)</a:t>
            </a:r>
            <a:endParaRPr lang="en-PH" sz="800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EE1D0F6-A45E-35D7-8D44-6B336E6A1025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>
            <a:off x="2547200" y="3689948"/>
            <a:ext cx="461903" cy="15822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Flowchart: Alternate Process 62">
            <a:extLst>
              <a:ext uri="{FF2B5EF4-FFF2-40B4-BE49-F238E27FC236}">
                <a16:creationId xmlns:a16="http://schemas.microsoft.com/office/drawing/2014/main" id="{534F9006-4803-8C1B-BEF8-CB4E57D8E858}"/>
              </a:ext>
            </a:extLst>
          </p:cNvPr>
          <p:cNvSpPr>
            <a:spLocks noChangeAspect="1"/>
          </p:cNvSpPr>
          <p:nvPr/>
        </p:nvSpPr>
        <p:spPr>
          <a:xfrm>
            <a:off x="5032166" y="3376586"/>
            <a:ext cx="1100957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Exit Conference &amp; Confirmation of Audit Findings</a:t>
            </a:r>
            <a:endParaRPr lang="en-PH" sz="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84937C6-9C00-4A53-4643-416AF4478920}"/>
              </a:ext>
            </a:extLst>
          </p:cNvPr>
          <p:cNvCxnSpPr>
            <a:cxnSpLocks/>
            <a:stCxn id="15" idx="3"/>
            <a:endCxn id="63" idx="1"/>
          </p:cNvCxnSpPr>
          <p:nvPr/>
        </p:nvCxnSpPr>
        <p:spPr>
          <a:xfrm flipV="1">
            <a:off x="4454353" y="3696626"/>
            <a:ext cx="577813" cy="914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Flowchart: Document 67">
            <a:extLst>
              <a:ext uri="{FF2B5EF4-FFF2-40B4-BE49-F238E27FC236}">
                <a16:creationId xmlns:a16="http://schemas.microsoft.com/office/drawing/2014/main" id="{7595527F-4B21-56A2-3001-F56B55D64A55}"/>
              </a:ext>
            </a:extLst>
          </p:cNvPr>
          <p:cNvSpPr>
            <a:spLocks noChangeAspect="1"/>
          </p:cNvSpPr>
          <p:nvPr/>
        </p:nvSpPr>
        <p:spPr>
          <a:xfrm>
            <a:off x="7135781" y="2511261"/>
            <a:ext cx="636619" cy="476974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Final Audit Report</a:t>
            </a:r>
            <a:endParaRPr lang="en-PH" sz="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A5BC7BC0-AF76-D711-8147-E1B2D4BEC71E}"/>
              </a:ext>
            </a:extLst>
          </p:cNvPr>
          <p:cNvCxnSpPr>
            <a:cxnSpLocks/>
            <a:stCxn id="63" idx="3"/>
            <a:endCxn id="9" idx="1"/>
          </p:cNvCxnSpPr>
          <p:nvPr/>
        </p:nvCxnSpPr>
        <p:spPr>
          <a:xfrm>
            <a:off x="6133123" y="3696626"/>
            <a:ext cx="837312" cy="914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Flowchart: Document 75">
            <a:extLst>
              <a:ext uri="{FF2B5EF4-FFF2-40B4-BE49-F238E27FC236}">
                <a16:creationId xmlns:a16="http://schemas.microsoft.com/office/drawing/2014/main" id="{95743EB3-DDB2-9EDC-DBBB-41F50E4A6F61}"/>
              </a:ext>
            </a:extLst>
          </p:cNvPr>
          <p:cNvSpPr>
            <a:spLocks noChangeAspect="1"/>
          </p:cNvSpPr>
          <p:nvPr/>
        </p:nvSpPr>
        <p:spPr>
          <a:xfrm>
            <a:off x="5882660" y="3923966"/>
            <a:ext cx="786216" cy="476974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Disposal Certificate / Log</a:t>
            </a:r>
            <a:endParaRPr lang="en-PH" sz="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33FA02A-D831-FFA2-5230-496CEB3984FD}"/>
              </a:ext>
            </a:extLst>
          </p:cNvPr>
          <p:cNvCxnSpPr>
            <a:cxnSpLocks/>
            <a:stCxn id="15" idx="2"/>
            <a:endCxn id="82" idx="0"/>
          </p:cNvCxnSpPr>
          <p:nvPr/>
        </p:nvCxnSpPr>
        <p:spPr>
          <a:xfrm>
            <a:off x="3731728" y="4170109"/>
            <a:ext cx="0" cy="436286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Flowchart: Merge 81">
            <a:extLst>
              <a:ext uri="{FF2B5EF4-FFF2-40B4-BE49-F238E27FC236}">
                <a16:creationId xmlns:a16="http://schemas.microsoft.com/office/drawing/2014/main" id="{77B556BF-B3BB-3E67-30BA-6B88B8922D15}"/>
              </a:ext>
            </a:extLst>
          </p:cNvPr>
          <p:cNvSpPr>
            <a:spLocks noChangeAspect="1"/>
          </p:cNvSpPr>
          <p:nvPr/>
        </p:nvSpPr>
        <p:spPr>
          <a:xfrm>
            <a:off x="3330436" y="4606395"/>
            <a:ext cx="802584" cy="358544"/>
          </a:xfrm>
          <a:prstGeom prst="flowChartMerg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File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413C6DD-02D4-939F-EDB3-612F6F2D0DF5}"/>
              </a:ext>
            </a:extLst>
          </p:cNvPr>
          <p:cNvSpPr txBox="1"/>
          <p:nvPr/>
        </p:nvSpPr>
        <p:spPr>
          <a:xfrm>
            <a:off x="3955331" y="3481182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YES</a:t>
            </a:r>
            <a:endParaRPr lang="en-PH" sz="8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2AAC456-74CB-DCCF-C0D2-48CEB08D0972}"/>
              </a:ext>
            </a:extLst>
          </p:cNvPr>
          <p:cNvSpPr txBox="1"/>
          <p:nvPr/>
        </p:nvSpPr>
        <p:spPr>
          <a:xfrm>
            <a:off x="3315351" y="4151199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NO</a:t>
            </a:r>
            <a:endParaRPr lang="en-PH" sz="8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79F06F4-B0BA-BC16-FC59-A87BD9DF0F02}"/>
              </a:ext>
            </a:extLst>
          </p:cNvPr>
          <p:cNvSpPr txBox="1"/>
          <p:nvPr/>
        </p:nvSpPr>
        <p:spPr>
          <a:xfrm>
            <a:off x="250704" y="5597238"/>
            <a:ext cx="55404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Notes:</a:t>
            </a:r>
          </a:p>
          <a:p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Final Audit Reports distributed to management must be sanitized of unnecessary member/employee personal data. Raw audit evidence must be securely destroyed upon the lapse of the mandated retention period.</a:t>
            </a:r>
            <a:endParaRPr lang="en-PH" sz="1000" b="1" i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062B4D9-7116-1279-6A1A-AE570463B77A}"/>
              </a:ext>
            </a:extLst>
          </p:cNvPr>
          <p:cNvSpPr txBox="1"/>
          <p:nvPr/>
        </p:nvSpPr>
        <p:spPr>
          <a:xfrm>
            <a:off x="3189290" y="4981936"/>
            <a:ext cx="108487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Keep in Secure Audit Storage.</a:t>
            </a:r>
            <a:endParaRPr lang="en-PH" sz="800" dirty="0"/>
          </a:p>
        </p:txBody>
      </p:sp>
    </p:spTree>
    <p:extLst>
      <p:ext uri="{BB962C8B-B14F-4D97-AF65-F5344CB8AC3E}">
        <p14:creationId xmlns:p14="http://schemas.microsoft.com/office/powerpoint/2010/main" val="453208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7775C-BCF0-4771-DE67-B85A67BB2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73674E-DF85-3729-79A4-BDD740D3D581}"/>
              </a:ext>
            </a:extLst>
          </p:cNvPr>
          <p:cNvSpPr txBox="1"/>
          <p:nvPr/>
        </p:nvSpPr>
        <p:spPr>
          <a:xfrm>
            <a:off x="1310550" y="397701"/>
            <a:ext cx="4932480" cy="318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Internal Audit Department</a:t>
            </a:r>
            <a:endParaRPr lang="en-PH" sz="1400" b="1" dirty="0">
              <a:solidFill>
                <a:srgbClr val="00206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83D6DE-22BD-4385-C050-B5422242587A}"/>
              </a:ext>
            </a:extLst>
          </p:cNvPr>
          <p:cNvSpPr txBox="1"/>
          <p:nvPr/>
        </p:nvSpPr>
        <p:spPr>
          <a:xfrm>
            <a:off x="150128" y="1041421"/>
            <a:ext cx="9646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Auditor Independence &amp; Quality Assurance</a:t>
            </a:r>
            <a:endParaRPr lang="en-PH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D7DF6B-BB89-9881-CDB7-93378D759B4A}"/>
              </a:ext>
            </a:extLst>
          </p:cNvPr>
          <p:cNvSpPr txBox="1"/>
          <p:nvPr/>
        </p:nvSpPr>
        <p:spPr>
          <a:xfrm>
            <a:off x="2063055" y="1397581"/>
            <a:ext cx="58204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Administrative flow for internal compliance within the Internal Audit team.</a:t>
            </a:r>
            <a:endParaRPr lang="en-PH" sz="1000" i="1" dirty="0">
              <a:latin typeface="Verdana" panose="020B0604030504040204" pitchFamily="34" charset="0"/>
              <a:ea typeface="Verdana" panose="020B0604030504040204" pitchFamily="34" charset="0"/>
              <a:cs typeface="Ebrima" panose="02000000000000000000" pitchFamily="2" charset="0"/>
            </a:endParaRPr>
          </a:p>
        </p:txBody>
      </p:sp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C1FA9139-503D-4684-3F67-CE6553AD168A}"/>
              </a:ext>
            </a:extLst>
          </p:cNvPr>
          <p:cNvSpPr>
            <a:spLocks noChangeAspect="1"/>
          </p:cNvSpPr>
          <p:nvPr/>
        </p:nvSpPr>
        <p:spPr>
          <a:xfrm>
            <a:off x="3201778" y="2132002"/>
            <a:ext cx="1254779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Complete Conflict of Interest &amp; Independence Declarations</a:t>
            </a:r>
            <a:endParaRPr lang="en-PH" sz="800" dirty="0"/>
          </a:p>
        </p:txBody>
      </p:sp>
      <p:sp>
        <p:nvSpPr>
          <p:cNvPr id="6" name="Flowchart: Document 5">
            <a:extLst>
              <a:ext uri="{FF2B5EF4-FFF2-40B4-BE49-F238E27FC236}">
                <a16:creationId xmlns:a16="http://schemas.microsoft.com/office/drawing/2014/main" id="{01EF6247-0254-CD2B-AAA7-69E3BBE5EA92}"/>
              </a:ext>
            </a:extLst>
          </p:cNvPr>
          <p:cNvSpPr>
            <a:spLocks noChangeAspect="1"/>
          </p:cNvSpPr>
          <p:nvPr/>
        </p:nvSpPr>
        <p:spPr>
          <a:xfrm>
            <a:off x="4100409" y="2696540"/>
            <a:ext cx="1084876" cy="551107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Signed Independence Declarations &amp; Internal Auditor NDA</a:t>
            </a:r>
          </a:p>
        </p:txBody>
      </p:sp>
      <p:sp>
        <p:nvSpPr>
          <p:cNvPr id="7" name="Flowchart: Merge 6">
            <a:extLst>
              <a:ext uri="{FF2B5EF4-FFF2-40B4-BE49-F238E27FC236}">
                <a16:creationId xmlns:a16="http://schemas.microsoft.com/office/drawing/2014/main" id="{3169D543-580E-FE6F-BD23-8760BD84A74C}"/>
              </a:ext>
            </a:extLst>
          </p:cNvPr>
          <p:cNvSpPr>
            <a:spLocks noChangeAspect="1"/>
          </p:cNvSpPr>
          <p:nvPr/>
        </p:nvSpPr>
        <p:spPr>
          <a:xfrm>
            <a:off x="1809886" y="3709268"/>
            <a:ext cx="826661" cy="551107"/>
          </a:xfrm>
          <a:prstGeom prst="flowChartMerg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File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252209-A209-03DC-0EE6-9A4CED18AC58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>
            <a:off x="1238996" y="2442898"/>
            <a:ext cx="725956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FB979F45-3A97-2006-0AC6-31BD91BB6C2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1964952" y="2077138"/>
            <a:ext cx="292608" cy="731520"/>
          </a:xfrm>
          <a:prstGeom prst="rect">
            <a:avLst/>
          </a:prstGeom>
        </p:spPr>
      </p:pic>
      <p:sp>
        <p:nvSpPr>
          <p:cNvPr id="10" name="Flowchart: Terminator 9">
            <a:extLst>
              <a:ext uri="{FF2B5EF4-FFF2-40B4-BE49-F238E27FC236}">
                <a16:creationId xmlns:a16="http://schemas.microsoft.com/office/drawing/2014/main" id="{51E169EE-9239-0B31-5840-9147684DD5FA}"/>
              </a:ext>
            </a:extLst>
          </p:cNvPr>
          <p:cNvSpPr/>
          <p:nvPr/>
        </p:nvSpPr>
        <p:spPr>
          <a:xfrm>
            <a:off x="675835" y="2292022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>
                <a:latin typeface="Verdana" panose="020B0604030504040204" pitchFamily="34" charset="0"/>
                <a:ea typeface="Verdana" panose="020B0604030504040204" pitchFamily="34" charset="0"/>
              </a:rPr>
              <a:t>Start</a:t>
            </a:r>
          </a:p>
        </p:txBody>
      </p:sp>
      <p:sp>
        <p:nvSpPr>
          <p:cNvPr id="11" name="Flowchart: Terminator 10">
            <a:extLst>
              <a:ext uri="{FF2B5EF4-FFF2-40B4-BE49-F238E27FC236}">
                <a16:creationId xmlns:a16="http://schemas.microsoft.com/office/drawing/2014/main" id="{7FFE1F2C-C086-006D-AB4D-BF481C3C33FE}"/>
              </a:ext>
            </a:extLst>
          </p:cNvPr>
          <p:cNvSpPr/>
          <p:nvPr/>
        </p:nvSpPr>
        <p:spPr>
          <a:xfrm>
            <a:off x="3398086" y="3833945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7C5E7F-598F-9DE1-4175-CFC6B23E063E}"/>
              </a:ext>
            </a:extLst>
          </p:cNvPr>
          <p:cNvSpPr txBox="1"/>
          <p:nvPr/>
        </p:nvSpPr>
        <p:spPr>
          <a:xfrm>
            <a:off x="1551671" y="2776374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Internal Auditor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54F74E7-9329-E650-7BF4-BD12BD9AEBB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5848028" y="2086282"/>
            <a:ext cx="292608" cy="73152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0A236B4-5C03-6F5A-BD41-BBADAE55D50E}"/>
              </a:ext>
            </a:extLst>
          </p:cNvPr>
          <p:cNvSpPr txBox="1"/>
          <p:nvPr/>
        </p:nvSpPr>
        <p:spPr>
          <a:xfrm>
            <a:off x="5490678" y="2817802"/>
            <a:ext cx="108487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Internal Auditor Head/ DPO (verification)</a:t>
            </a:r>
          </a:p>
        </p:txBody>
      </p:sp>
      <p:sp>
        <p:nvSpPr>
          <p:cNvPr id="15" name="Flowchart: Alternate Process 14">
            <a:extLst>
              <a:ext uri="{FF2B5EF4-FFF2-40B4-BE49-F238E27FC236}">
                <a16:creationId xmlns:a16="http://schemas.microsoft.com/office/drawing/2014/main" id="{FC6C4929-A9F0-B00D-78D4-F542F480FAD4}"/>
              </a:ext>
            </a:extLst>
          </p:cNvPr>
          <p:cNvSpPr>
            <a:spLocks noChangeAspect="1"/>
          </p:cNvSpPr>
          <p:nvPr/>
        </p:nvSpPr>
        <p:spPr>
          <a:xfrm>
            <a:off x="6925007" y="2132002"/>
            <a:ext cx="1254779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Complete Conflict of Interest &amp; Independence Declarations</a:t>
            </a:r>
            <a:endParaRPr lang="en-PH" sz="8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F8CDA26-C963-6F9E-F063-F51B5917D740}"/>
              </a:ext>
            </a:extLst>
          </p:cNvPr>
          <p:cNvCxnSpPr>
            <a:cxnSpLocks/>
            <a:stCxn id="9" idx="3"/>
            <a:endCxn id="5" idx="1"/>
          </p:cNvCxnSpPr>
          <p:nvPr/>
        </p:nvCxnSpPr>
        <p:spPr>
          <a:xfrm>
            <a:off x="2257560" y="2442898"/>
            <a:ext cx="944218" cy="914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ADB6473-5B6D-E973-AA00-D89E356F1834}"/>
              </a:ext>
            </a:extLst>
          </p:cNvPr>
          <p:cNvSpPr txBox="1"/>
          <p:nvPr/>
        </p:nvSpPr>
        <p:spPr>
          <a:xfrm>
            <a:off x="1680778" y="4302908"/>
            <a:ext cx="1084876" cy="461665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Secure Employee Compliance / 201 File Storage</a:t>
            </a:r>
          </a:p>
        </p:txBody>
      </p:sp>
      <p:sp>
        <p:nvSpPr>
          <p:cNvPr id="23" name="Flowchart: Connector 22">
            <a:extLst>
              <a:ext uri="{FF2B5EF4-FFF2-40B4-BE49-F238E27FC236}">
                <a16:creationId xmlns:a16="http://schemas.microsoft.com/office/drawing/2014/main" id="{62712AD8-C154-6D94-DD1E-85DAE7BC677D}"/>
              </a:ext>
            </a:extLst>
          </p:cNvPr>
          <p:cNvSpPr>
            <a:spLocks noChangeAspect="1"/>
          </p:cNvSpPr>
          <p:nvPr/>
        </p:nvSpPr>
        <p:spPr>
          <a:xfrm>
            <a:off x="8820590" y="2292022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sp>
        <p:nvSpPr>
          <p:cNvPr id="24" name="Flowchart: Connector 23">
            <a:extLst>
              <a:ext uri="{FF2B5EF4-FFF2-40B4-BE49-F238E27FC236}">
                <a16:creationId xmlns:a16="http://schemas.microsoft.com/office/drawing/2014/main" id="{18D015A4-20A8-7840-9663-8FD1A4EBCC48}"/>
              </a:ext>
            </a:extLst>
          </p:cNvPr>
          <p:cNvSpPr>
            <a:spLocks noChangeAspect="1"/>
          </p:cNvSpPr>
          <p:nvPr/>
        </p:nvSpPr>
        <p:spPr>
          <a:xfrm>
            <a:off x="797395" y="3824802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4B9087B-FCE9-2993-A03C-8DEE244838BE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4456557" y="2452042"/>
            <a:ext cx="1391471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31E408-EF6E-9501-F612-B462611C219C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6140636" y="2452042"/>
            <a:ext cx="784371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53F2313-C814-B398-B699-8A566B4FFD56}"/>
              </a:ext>
            </a:extLst>
          </p:cNvPr>
          <p:cNvCxnSpPr>
            <a:cxnSpLocks/>
            <a:stCxn id="15" idx="3"/>
            <a:endCxn id="23" idx="2"/>
          </p:cNvCxnSpPr>
          <p:nvPr/>
        </p:nvCxnSpPr>
        <p:spPr>
          <a:xfrm>
            <a:off x="8179786" y="2452042"/>
            <a:ext cx="640804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CFFB82E-436C-B5E3-BDDA-4DE6AAF9AC8B}"/>
              </a:ext>
            </a:extLst>
          </p:cNvPr>
          <p:cNvCxnSpPr>
            <a:cxnSpLocks/>
            <a:stCxn id="24" idx="6"/>
            <a:endCxn id="7" idx="1"/>
          </p:cNvCxnSpPr>
          <p:nvPr/>
        </p:nvCxnSpPr>
        <p:spPr>
          <a:xfrm>
            <a:off x="1117435" y="3984822"/>
            <a:ext cx="899116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FB88BF8-16C5-06EB-85C1-BC53204347D0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 flipV="1">
            <a:off x="2429882" y="3984821"/>
            <a:ext cx="968204" cy="1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4921289-55A1-1C0E-D27F-EAC898C3B577}"/>
              </a:ext>
            </a:extLst>
          </p:cNvPr>
          <p:cNvSpPr txBox="1"/>
          <p:nvPr/>
        </p:nvSpPr>
        <p:spPr>
          <a:xfrm>
            <a:off x="250704" y="5597238"/>
            <a:ext cx="6150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Verdana" panose="020B0604030504040204" pitchFamily="34" charset="0"/>
                <a:ea typeface="Verdana" panose="020B0604030504040204" pitchFamily="34" charset="0"/>
              </a:rPr>
              <a:t>Notes:</a:t>
            </a:r>
          </a:p>
          <a:p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Auditor independence declarations contain SPI (e.g., family affiliations, financial interests). These are processed strictly to fulfill regulatory requirements for audit objectivity and are not shared outside of HR/Compliance.</a:t>
            </a: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629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0529C-7F1B-6642-6422-F5246773A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AD2E6D-AD71-CE8E-679F-66FFB18DB907}"/>
              </a:ext>
            </a:extLst>
          </p:cNvPr>
          <p:cNvSpPr txBox="1"/>
          <p:nvPr/>
        </p:nvSpPr>
        <p:spPr>
          <a:xfrm>
            <a:off x="1310550" y="397701"/>
            <a:ext cx="4932480" cy="318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Internal Audit Department</a:t>
            </a:r>
            <a:endParaRPr lang="en-PH" sz="1400" b="1" dirty="0">
              <a:solidFill>
                <a:srgbClr val="00206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3FBC4A-CF22-60DD-329D-81C866FEBA10}"/>
              </a:ext>
            </a:extLst>
          </p:cNvPr>
          <p:cNvSpPr txBox="1"/>
          <p:nvPr/>
        </p:nvSpPr>
        <p:spPr>
          <a:xfrm>
            <a:off x="150128" y="1041421"/>
            <a:ext cx="9646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Information Systems (IT) Audit</a:t>
            </a:r>
            <a:endParaRPr lang="en-PH" sz="12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DACE3F-1DFA-4A4D-320A-8663A8D19C91}"/>
              </a:ext>
            </a:extLst>
          </p:cNvPr>
          <p:cNvSpPr txBox="1"/>
          <p:nvPr/>
        </p:nvSpPr>
        <p:spPr>
          <a:xfrm>
            <a:off x="2042764" y="1397581"/>
            <a:ext cx="58204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Auditing IT controls without breaking segregation of duties.</a:t>
            </a:r>
            <a:endParaRPr lang="en-PH" sz="1000" i="1" dirty="0">
              <a:latin typeface="Verdana" panose="020B0604030504040204" pitchFamily="34" charset="0"/>
              <a:ea typeface="Verdana" panose="020B0604030504040204" pitchFamily="34" charset="0"/>
              <a:cs typeface="Ebrima" panose="02000000000000000000" pitchFamily="2" charset="0"/>
            </a:endParaRPr>
          </a:p>
        </p:txBody>
      </p:sp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C0288C4B-D932-5199-98FE-9989B63CE818}"/>
              </a:ext>
            </a:extLst>
          </p:cNvPr>
          <p:cNvSpPr>
            <a:spLocks noChangeAspect="1"/>
          </p:cNvSpPr>
          <p:nvPr/>
        </p:nvSpPr>
        <p:spPr>
          <a:xfrm>
            <a:off x="2733134" y="2088013"/>
            <a:ext cx="863398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Request System Audit Logs &amp; User Access Matrices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F155E43-E82C-93DF-36CC-9EFB5CC240DB}"/>
              </a:ext>
            </a:extLst>
          </p:cNvPr>
          <p:cNvGrpSpPr>
            <a:grpSpLocks noChangeAspect="1"/>
          </p:cNvGrpSpPr>
          <p:nvPr/>
        </p:nvGrpSpPr>
        <p:grpSpPr>
          <a:xfrm>
            <a:off x="5074507" y="2059261"/>
            <a:ext cx="1290409" cy="661345"/>
            <a:chOff x="1523999" y="2733141"/>
            <a:chExt cx="1536201" cy="7272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AF7057E-7387-5119-C879-CCB9C92CD740}"/>
                </a:ext>
              </a:extLst>
            </p:cNvPr>
            <p:cNvGrpSpPr/>
            <p:nvPr/>
          </p:nvGrpSpPr>
          <p:grpSpPr>
            <a:xfrm>
              <a:off x="1524000" y="2756526"/>
              <a:ext cx="1536200" cy="703875"/>
              <a:chOff x="1676400" y="2680395"/>
              <a:chExt cx="1331373" cy="596205"/>
            </a:xfrm>
          </p:grpSpPr>
          <p:sp>
            <p:nvSpPr>
              <p:cNvPr id="9" name="Flowchart: Process 8">
                <a:extLst>
                  <a:ext uri="{FF2B5EF4-FFF2-40B4-BE49-F238E27FC236}">
                    <a16:creationId xmlns:a16="http://schemas.microsoft.com/office/drawing/2014/main" id="{25945842-6DA2-5B80-29AB-260242C8D51D}"/>
                  </a:ext>
                </a:extLst>
              </p:cNvPr>
              <p:cNvSpPr/>
              <p:nvPr/>
            </p:nvSpPr>
            <p:spPr>
              <a:xfrm>
                <a:off x="1676400" y="2680395"/>
                <a:ext cx="1331373" cy="596205"/>
              </a:xfrm>
              <a:prstGeom prst="flowChartProcess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lIns="0" rIns="0" rtlCol="0" anchor="ctr"/>
              <a:lstStyle/>
              <a:p>
                <a:pPr algn="ctr"/>
                <a:endParaRPr lang="en-US" sz="800" dirty="0"/>
              </a:p>
              <a:p>
                <a:pPr algn="ctr"/>
                <a:r>
                  <a:rPr lang="en-US" sz="800" dirty="0"/>
                  <a:t>Generate Read-Only Reports (No direct Admin Access granted to Auditor)</a:t>
                </a:r>
                <a:endParaRPr lang="en-PH" sz="800" dirty="0"/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E8E76AF4-59D4-719E-8DF5-08B159B4BC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76400" y="2859016"/>
                <a:ext cx="1331373" cy="0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740AAE0-76F7-DDD9-4AED-8029C389FC52}"/>
                </a:ext>
              </a:extLst>
            </p:cNvPr>
            <p:cNvSpPr txBox="1"/>
            <p:nvPr/>
          </p:nvSpPr>
          <p:spPr>
            <a:xfrm>
              <a:off x="1523999" y="2733141"/>
              <a:ext cx="1536199" cy="23691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PH" sz="800" dirty="0"/>
                <a:t>System Process</a:t>
              </a:r>
            </a:p>
          </p:txBody>
        </p:sp>
      </p:grpSp>
      <p:sp>
        <p:nvSpPr>
          <p:cNvPr id="11" name="Flowchart: Document 10">
            <a:extLst>
              <a:ext uri="{FF2B5EF4-FFF2-40B4-BE49-F238E27FC236}">
                <a16:creationId xmlns:a16="http://schemas.microsoft.com/office/drawing/2014/main" id="{36BDD16B-F7C1-20C8-586E-44EE64A37706}"/>
              </a:ext>
            </a:extLst>
          </p:cNvPr>
          <p:cNvSpPr>
            <a:spLocks noChangeAspect="1"/>
          </p:cNvSpPr>
          <p:nvPr/>
        </p:nvSpPr>
        <p:spPr>
          <a:xfrm>
            <a:off x="5816720" y="2677426"/>
            <a:ext cx="877450" cy="486337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System Audit Trails / Privilege Override Logs</a:t>
            </a:r>
          </a:p>
        </p:txBody>
      </p:sp>
      <p:sp>
        <p:nvSpPr>
          <p:cNvPr id="12" name="Flowchart: Merge 11">
            <a:extLst>
              <a:ext uri="{FF2B5EF4-FFF2-40B4-BE49-F238E27FC236}">
                <a16:creationId xmlns:a16="http://schemas.microsoft.com/office/drawing/2014/main" id="{230AD484-85A0-C3F7-E816-C785BC00A45B}"/>
              </a:ext>
            </a:extLst>
          </p:cNvPr>
          <p:cNvSpPr>
            <a:spLocks noChangeAspect="1"/>
          </p:cNvSpPr>
          <p:nvPr/>
        </p:nvSpPr>
        <p:spPr>
          <a:xfrm>
            <a:off x="1999278" y="3607478"/>
            <a:ext cx="826661" cy="551107"/>
          </a:xfrm>
          <a:prstGeom prst="flowChartMerg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File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A99864-E3CE-D7E3-2F9E-EFCEF7355C6C}"/>
              </a:ext>
            </a:extLst>
          </p:cNvPr>
          <p:cNvCxnSpPr>
            <a:cxnSpLocks/>
            <a:stCxn id="51" idx="6"/>
            <a:endCxn id="12" idx="1"/>
          </p:cNvCxnSpPr>
          <p:nvPr/>
        </p:nvCxnSpPr>
        <p:spPr>
          <a:xfrm>
            <a:off x="1187699" y="3883032"/>
            <a:ext cx="1018244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A457E484-1617-C3ED-252C-84A3A9A87BB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1940381" y="2042293"/>
            <a:ext cx="292608" cy="731520"/>
          </a:xfrm>
          <a:prstGeom prst="rect">
            <a:avLst/>
          </a:prstGeom>
        </p:spPr>
      </p:pic>
      <p:sp>
        <p:nvSpPr>
          <p:cNvPr id="15" name="Flowchart: Terminator 14">
            <a:extLst>
              <a:ext uri="{FF2B5EF4-FFF2-40B4-BE49-F238E27FC236}">
                <a16:creationId xmlns:a16="http://schemas.microsoft.com/office/drawing/2014/main" id="{ED59893E-D706-5D90-BD09-9FB89948CF84}"/>
              </a:ext>
            </a:extLst>
          </p:cNvPr>
          <p:cNvSpPr/>
          <p:nvPr/>
        </p:nvSpPr>
        <p:spPr>
          <a:xfrm>
            <a:off x="747389" y="2262993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Start</a:t>
            </a:r>
          </a:p>
        </p:txBody>
      </p:sp>
      <p:sp>
        <p:nvSpPr>
          <p:cNvPr id="16" name="Flowchart: Terminator 15">
            <a:extLst>
              <a:ext uri="{FF2B5EF4-FFF2-40B4-BE49-F238E27FC236}">
                <a16:creationId xmlns:a16="http://schemas.microsoft.com/office/drawing/2014/main" id="{A9E68AB7-0438-B915-A9EC-C68F2523B657}"/>
              </a:ext>
            </a:extLst>
          </p:cNvPr>
          <p:cNvSpPr/>
          <p:nvPr/>
        </p:nvSpPr>
        <p:spPr>
          <a:xfrm>
            <a:off x="3691217" y="3732155"/>
            <a:ext cx="563161" cy="301752"/>
          </a:xfrm>
          <a:prstGeom prst="flowChartTermina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End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A760A03-BAD3-BE31-274F-151C1176FA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053" t="7546" r="36333" b="8038"/>
          <a:stretch/>
        </p:blipFill>
        <p:spPr>
          <a:xfrm>
            <a:off x="4195691" y="2040825"/>
            <a:ext cx="292608" cy="731520"/>
          </a:xfrm>
          <a:prstGeom prst="rect">
            <a:avLst/>
          </a:prstGeom>
        </p:spPr>
      </p:pic>
      <p:sp>
        <p:nvSpPr>
          <p:cNvPr id="18" name="Flowchart: Alternate Process 17">
            <a:extLst>
              <a:ext uri="{FF2B5EF4-FFF2-40B4-BE49-F238E27FC236}">
                <a16:creationId xmlns:a16="http://schemas.microsoft.com/office/drawing/2014/main" id="{C9967532-72B4-1D61-8721-428F3C386847}"/>
              </a:ext>
            </a:extLst>
          </p:cNvPr>
          <p:cNvSpPr>
            <a:spLocks noChangeAspect="1"/>
          </p:cNvSpPr>
          <p:nvPr/>
        </p:nvSpPr>
        <p:spPr>
          <a:xfrm>
            <a:off x="7039359" y="2088013"/>
            <a:ext cx="960120" cy="640080"/>
          </a:xfrm>
          <a:prstGeom prst="flowChartAlternate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Verify Access Controls against HR Master list &amp; Authorization Limits</a:t>
            </a:r>
            <a:endParaRPr lang="en-PH" sz="800" dirty="0"/>
          </a:p>
        </p:txBody>
      </p:sp>
      <p:sp>
        <p:nvSpPr>
          <p:cNvPr id="19" name="Flowchart: Document 18">
            <a:extLst>
              <a:ext uri="{FF2B5EF4-FFF2-40B4-BE49-F238E27FC236}">
                <a16:creationId xmlns:a16="http://schemas.microsoft.com/office/drawing/2014/main" id="{82E272BA-256B-0FFA-F6F2-5D4B3988C606}"/>
              </a:ext>
            </a:extLst>
          </p:cNvPr>
          <p:cNvSpPr>
            <a:spLocks noChangeAspect="1"/>
          </p:cNvSpPr>
          <p:nvPr/>
        </p:nvSpPr>
        <p:spPr>
          <a:xfrm>
            <a:off x="7670225" y="2661342"/>
            <a:ext cx="660577" cy="440385"/>
          </a:xfrm>
          <a:prstGeom prst="flowChartDocumen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800" dirty="0"/>
              <a:t>IT Audit Findings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356C6D-06F0-CA55-809A-77122B0C2751}"/>
              </a:ext>
            </a:extLst>
          </p:cNvPr>
          <p:cNvSpPr txBox="1"/>
          <p:nvPr/>
        </p:nvSpPr>
        <p:spPr>
          <a:xfrm>
            <a:off x="1500326" y="2773813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Internal Auditor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9E0CFC-A9AC-E1AF-7CAC-A71BCE9707E1}"/>
              </a:ext>
            </a:extLst>
          </p:cNvPr>
          <p:cNvSpPr txBox="1"/>
          <p:nvPr/>
        </p:nvSpPr>
        <p:spPr>
          <a:xfrm>
            <a:off x="3751830" y="2763088"/>
            <a:ext cx="108487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IT Manager / Database Administrator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01275B2-28A4-77FC-BDD0-354A574858E9}"/>
              </a:ext>
            </a:extLst>
          </p:cNvPr>
          <p:cNvCxnSpPr>
            <a:cxnSpLocks/>
            <a:stCxn id="15" idx="3"/>
            <a:endCxn id="14" idx="1"/>
          </p:cNvCxnSpPr>
          <p:nvPr/>
        </p:nvCxnSpPr>
        <p:spPr>
          <a:xfrm flipV="1">
            <a:off x="1310550" y="2408053"/>
            <a:ext cx="629831" cy="5816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9E1ACC3-B9F7-B895-DCE4-6CCA73B96781}"/>
              </a:ext>
            </a:extLst>
          </p:cNvPr>
          <p:cNvCxnSpPr>
            <a:cxnSpLocks/>
            <a:stCxn id="14" idx="3"/>
            <a:endCxn id="5" idx="1"/>
          </p:cNvCxnSpPr>
          <p:nvPr/>
        </p:nvCxnSpPr>
        <p:spPr>
          <a:xfrm>
            <a:off x="2232989" y="2408053"/>
            <a:ext cx="500145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CFFAFA2-A190-1CFA-C118-091B58E26871}"/>
              </a:ext>
            </a:extLst>
          </p:cNvPr>
          <p:cNvCxnSpPr>
            <a:cxnSpLocks/>
            <a:stCxn id="5" idx="3"/>
            <a:endCxn id="17" idx="1"/>
          </p:cNvCxnSpPr>
          <p:nvPr/>
        </p:nvCxnSpPr>
        <p:spPr>
          <a:xfrm flipV="1">
            <a:off x="3596532" y="2406585"/>
            <a:ext cx="599159" cy="146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A1624EE-0698-E0A2-5DC6-6888BC9C67C2}"/>
              </a:ext>
            </a:extLst>
          </p:cNvPr>
          <p:cNvCxnSpPr>
            <a:cxnSpLocks/>
            <a:stCxn id="17" idx="3"/>
            <a:endCxn id="9" idx="1"/>
          </p:cNvCxnSpPr>
          <p:nvPr/>
        </p:nvCxnSpPr>
        <p:spPr>
          <a:xfrm flipV="1">
            <a:off x="4488299" y="2400567"/>
            <a:ext cx="586209" cy="601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C43F559-E9CB-AF2C-4DDA-020D62D06CFF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6364916" y="2400567"/>
            <a:ext cx="674443" cy="7486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Flowchart: Connector 45">
            <a:extLst>
              <a:ext uri="{FF2B5EF4-FFF2-40B4-BE49-F238E27FC236}">
                <a16:creationId xmlns:a16="http://schemas.microsoft.com/office/drawing/2014/main" id="{2834F6C1-6C9E-DF57-5183-4E9CFB9E4D61}"/>
              </a:ext>
            </a:extLst>
          </p:cNvPr>
          <p:cNvSpPr>
            <a:spLocks noChangeAspect="1"/>
          </p:cNvSpPr>
          <p:nvPr/>
        </p:nvSpPr>
        <p:spPr>
          <a:xfrm>
            <a:off x="8826512" y="2253849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0DF05A2-632A-2DC0-0BE7-80C9D7CF8FDC}"/>
              </a:ext>
            </a:extLst>
          </p:cNvPr>
          <p:cNvCxnSpPr>
            <a:cxnSpLocks/>
            <a:stCxn id="18" idx="3"/>
            <a:endCxn id="46" idx="2"/>
          </p:cNvCxnSpPr>
          <p:nvPr/>
        </p:nvCxnSpPr>
        <p:spPr>
          <a:xfrm>
            <a:off x="7999479" y="2408053"/>
            <a:ext cx="827033" cy="5816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lowchart: Connector 50">
            <a:extLst>
              <a:ext uri="{FF2B5EF4-FFF2-40B4-BE49-F238E27FC236}">
                <a16:creationId xmlns:a16="http://schemas.microsoft.com/office/drawing/2014/main" id="{748CA777-8FA1-C17B-F1C1-9F5DF2CCEE4F}"/>
              </a:ext>
            </a:extLst>
          </p:cNvPr>
          <p:cNvSpPr>
            <a:spLocks noChangeAspect="1"/>
          </p:cNvSpPr>
          <p:nvPr/>
        </p:nvSpPr>
        <p:spPr>
          <a:xfrm>
            <a:off x="867659" y="3723012"/>
            <a:ext cx="320040" cy="320040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PH" sz="1000" dirty="0"/>
              <a:t>A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DBEEF9-D486-BC42-8436-84CD3FFFFEFA}"/>
              </a:ext>
            </a:extLst>
          </p:cNvPr>
          <p:cNvSpPr txBox="1"/>
          <p:nvPr/>
        </p:nvSpPr>
        <p:spPr>
          <a:xfrm>
            <a:off x="1870170" y="4204181"/>
            <a:ext cx="1084876" cy="2154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800" dirty="0"/>
              <a:t>Secure Storage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8D73D78-7311-8FC2-94D5-1F57B31328BD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 flipV="1">
            <a:off x="2619274" y="3883031"/>
            <a:ext cx="1071943" cy="1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AE62A161-7877-A428-37FD-DBF8D5F73932}"/>
              </a:ext>
            </a:extLst>
          </p:cNvPr>
          <p:cNvSpPr txBox="1"/>
          <p:nvPr/>
        </p:nvSpPr>
        <p:spPr>
          <a:xfrm>
            <a:off x="250704" y="5597238"/>
            <a:ext cx="6150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Verdana" panose="020B0604030504040204" pitchFamily="34" charset="0"/>
                <a:ea typeface="Verdana" panose="020B0604030504040204" pitchFamily="34" charset="0"/>
              </a:rPr>
              <a:t>Notes:</a:t>
            </a:r>
          </a:p>
          <a:p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To maintain segregation of duties, Internal Auditors operate strictly with "Read-Only" privileges and review system-generated logs to verify IT compliance. Auditors shall not alter system configurations or access rights.</a:t>
            </a:r>
          </a:p>
        </p:txBody>
      </p:sp>
    </p:spTree>
    <p:extLst>
      <p:ext uri="{BB962C8B-B14F-4D97-AF65-F5344CB8AC3E}">
        <p14:creationId xmlns:p14="http://schemas.microsoft.com/office/powerpoint/2010/main" val="223850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1628</TotalTime>
  <Words>840</Words>
  <Application>Microsoft Office PowerPoint</Application>
  <PresentationFormat>A4 Paper (210x297 mm)</PresentationFormat>
  <Paragraphs>153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Elizer P. Betinol</dc:creator>
  <cp:lastModifiedBy>shin jabonga</cp:lastModifiedBy>
  <cp:revision>100</cp:revision>
  <dcterms:created xsi:type="dcterms:W3CDTF">2018-07-10T06:10:15Z</dcterms:created>
  <dcterms:modified xsi:type="dcterms:W3CDTF">2026-04-22T09:06:09Z</dcterms:modified>
</cp:coreProperties>
</file>