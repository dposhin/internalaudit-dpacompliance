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"/>
  </p:notesMasterIdLst>
  <p:sldIdLst>
    <p:sldId id="256" r:id="rId2"/>
    <p:sldId id="264" r:id="rId3"/>
    <p:sldId id="267" r:id="rId4"/>
    <p:sldId id="268" r:id="rId5"/>
  </p:sldIdLst>
  <p:sldSz cx="9906000" cy="6858000" type="A4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izer P. Betinol" initials="EPB" lastIdx="42" clrIdx="0">
    <p:extLst>
      <p:ext uri="{19B8F6BF-5375-455C-9EA6-DF929625EA0E}">
        <p15:presenceInfo xmlns:p15="http://schemas.microsoft.com/office/powerpoint/2012/main" userId="S-1-5-21-4134998048-3027543182-730414805-3686" providerId="AD"/>
      </p:ext>
    </p:extLst>
  </p:cmAuthor>
  <p:cmAuthor id="2" name="Paolo T. Parone" initials="PTP" lastIdx="4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7" autoAdjust="0"/>
    <p:restoredTop sz="91030" autoAdjust="0"/>
  </p:normalViewPr>
  <p:slideViewPr>
    <p:cSldViewPr snapToGrid="0">
      <p:cViewPr>
        <p:scale>
          <a:sx n="75" d="100"/>
          <a:sy n="75" d="100"/>
        </p:scale>
        <p:origin x="1122" y="-12"/>
      </p:cViewPr>
      <p:guideLst>
        <p:guide orient="horz" pos="2168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27B00-E670-4C16-AAF3-03727BAD7F67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6933C-9A07-4B87-8258-2C1B93301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7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6933C-9A07-4B87-8258-2C1B933017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42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6933C-9A07-4B87-8258-2C1B933017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4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79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6220" y="5515968"/>
            <a:ext cx="9665504" cy="954107"/>
          </a:xfrm>
          <a:prstGeom prst="rect">
            <a:avLst/>
          </a:prstGeom>
          <a:noFill/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  <a:p>
            <a:endParaRPr lang="en-PH" sz="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21260275"/>
              </p:ext>
            </p:extLst>
          </p:nvPr>
        </p:nvGraphicFramePr>
        <p:xfrm>
          <a:off x="120981" y="6553200"/>
          <a:ext cx="966550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5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Data Flow Diagram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75000"/>
                          </a:schemeClr>
                        </a:gs>
                        <a:gs pos="50000">
                          <a:schemeClr val="tx2"/>
                        </a:gs>
                        <a:gs pos="99000">
                          <a:schemeClr val="bg2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87900229"/>
              </p:ext>
            </p:extLst>
          </p:nvPr>
        </p:nvGraphicFramePr>
        <p:xfrm>
          <a:off x="131985" y="1066800"/>
          <a:ext cx="9653459" cy="4399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653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49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51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151726"/>
              </p:ext>
            </p:extLst>
          </p:nvPr>
        </p:nvGraphicFramePr>
        <p:xfrm>
          <a:off x="127695" y="76201"/>
          <a:ext cx="9702933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1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 rowSpan="3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PH" sz="1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First Community Cooperative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Document No.: DFD-IA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7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4295" marR="74295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7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/>
                        <a:t>Data Flow Diagram</a:t>
                      </a:r>
                    </a:p>
                  </a:txBody>
                  <a:tcPr marL="74295" marR="74295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50" y="106640"/>
            <a:ext cx="937029" cy="85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6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84" y="1102578"/>
            <a:ext cx="97458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algn="just">
              <a:buFont typeface="+mj-lt"/>
              <a:buAutoNum type="romanUcPeriod"/>
            </a:pPr>
            <a:r>
              <a:rPr lang="en-PH" sz="1600" dirty="0"/>
              <a:t>Purpose and Scope</a:t>
            </a:r>
          </a:p>
          <a:p>
            <a:pPr algn="just"/>
            <a:endParaRPr lang="en-PH" sz="1600" dirty="0"/>
          </a:p>
          <a:p>
            <a:pPr marL="393700" algn="just"/>
            <a:r>
              <a:rPr lang="en-PH" sz="1600" dirty="0"/>
              <a:t>This document provides a graphical representation of how personal information flows within the business processes of Internal Audit Department. This includes the collection, usage, retention, transfer/disclosure and disposal of personal information. Reference numbers are mapped to the Data Inventory for the data fields of each document/file.</a:t>
            </a:r>
          </a:p>
          <a:p>
            <a:pPr algn="just"/>
            <a:endParaRPr lang="en-PH" sz="1600" dirty="0"/>
          </a:p>
          <a:p>
            <a:pPr algn="just"/>
            <a:r>
              <a:rPr lang="en-PH" sz="1600" dirty="0"/>
              <a:t>II.     Data Flow Diagram</a:t>
            </a:r>
          </a:p>
        </p:txBody>
      </p:sp>
      <p:sp>
        <p:nvSpPr>
          <p:cNvPr id="87" name="Flowchart: Alternate Process 86"/>
          <p:cNvSpPr>
            <a:spLocks noChangeAspect="1"/>
          </p:cNvSpPr>
          <p:nvPr/>
        </p:nvSpPr>
        <p:spPr>
          <a:xfrm>
            <a:off x="575443" y="3247698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Manual Process</a:t>
            </a: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870843" y="3239756"/>
            <a:ext cx="960120" cy="661346"/>
            <a:chOff x="1524000" y="2733140"/>
            <a:chExt cx="1143000" cy="727261"/>
          </a:xfrm>
        </p:grpSpPr>
        <p:grpSp>
          <p:nvGrpSpPr>
            <p:cNvPr id="89" name="Group 88"/>
            <p:cNvGrpSpPr/>
            <p:nvPr/>
          </p:nvGrpSpPr>
          <p:grpSpPr>
            <a:xfrm>
              <a:off x="1524000" y="2756526"/>
              <a:ext cx="1143000" cy="703875"/>
              <a:chOff x="1676400" y="2680395"/>
              <a:chExt cx="990600" cy="596205"/>
            </a:xfrm>
          </p:grpSpPr>
          <p:sp>
            <p:nvSpPr>
              <p:cNvPr id="91" name="Flowchart: Process 90"/>
              <p:cNvSpPr/>
              <p:nvPr/>
            </p:nvSpPr>
            <p:spPr>
              <a:xfrm>
                <a:off x="1676400" y="2680395"/>
                <a:ext cx="990600" cy="596205"/>
              </a:xfrm>
              <a:prstGeom prst="flowChartProcess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PH" sz="800" dirty="0"/>
                  <a:t>System Process</a:t>
                </a:r>
              </a:p>
            </p:txBody>
          </p:sp>
          <p:cxnSp>
            <p:nvCxnSpPr>
              <p:cNvPr id="92" name="Straight Connector 91"/>
              <p:cNvCxnSpPr/>
              <p:nvPr/>
            </p:nvCxnSpPr>
            <p:spPr>
              <a:xfrm flipH="1">
                <a:off x="1676400" y="2859016"/>
                <a:ext cx="990600" cy="0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</p:grpSp>
        <p:sp>
          <p:nvSpPr>
            <p:cNvPr id="90" name="TextBox 89"/>
            <p:cNvSpPr txBox="1"/>
            <p:nvPr/>
          </p:nvSpPr>
          <p:spPr>
            <a:xfrm>
              <a:off x="1524000" y="2733140"/>
              <a:ext cx="1143000" cy="23691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PH" sz="800" dirty="0"/>
                <a:t>System</a:t>
              </a:r>
            </a:p>
          </p:txBody>
        </p:sp>
      </p:grpSp>
      <p:sp>
        <p:nvSpPr>
          <p:cNvPr id="93" name="Flowchart: Document 92"/>
          <p:cNvSpPr>
            <a:spLocks noChangeAspect="1"/>
          </p:cNvSpPr>
          <p:nvPr/>
        </p:nvSpPr>
        <p:spPr>
          <a:xfrm>
            <a:off x="3361822" y="3420378"/>
            <a:ext cx="660577" cy="440385"/>
          </a:xfrm>
          <a:prstGeom prst="flowChartDocumen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Document</a:t>
            </a:r>
          </a:p>
        </p:txBody>
      </p:sp>
      <p:sp>
        <p:nvSpPr>
          <p:cNvPr id="94" name="Flowchart: Predefined Process 93"/>
          <p:cNvSpPr>
            <a:spLocks noChangeAspect="1"/>
          </p:cNvSpPr>
          <p:nvPr/>
        </p:nvSpPr>
        <p:spPr>
          <a:xfrm>
            <a:off x="4537843" y="3247699"/>
            <a:ext cx="961088" cy="64008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Predefined Process</a:t>
            </a:r>
          </a:p>
        </p:txBody>
      </p:sp>
      <p:sp>
        <p:nvSpPr>
          <p:cNvPr id="95" name="Flowchart: Stored Data 94"/>
          <p:cNvSpPr>
            <a:spLocks noChangeAspect="1"/>
          </p:cNvSpPr>
          <p:nvPr/>
        </p:nvSpPr>
        <p:spPr>
          <a:xfrm>
            <a:off x="5785618" y="3254359"/>
            <a:ext cx="960120" cy="640080"/>
          </a:xfrm>
          <a:prstGeom prst="flowChartOnlineStora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Transaction File</a:t>
            </a:r>
          </a:p>
        </p:txBody>
      </p:sp>
      <p:sp>
        <p:nvSpPr>
          <p:cNvPr id="96" name="Flowchart: Magnetic Disk 95"/>
          <p:cNvSpPr>
            <a:spLocks noChangeAspect="1"/>
          </p:cNvSpPr>
          <p:nvPr/>
        </p:nvSpPr>
        <p:spPr>
          <a:xfrm>
            <a:off x="7055073" y="3247698"/>
            <a:ext cx="960120" cy="64008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Database</a:t>
            </a:r>
          </a:p>
        </p:txBody>
      </p:sp>
      <p:sp>
        <p:nvSpPr>
          <p:cNvPr id="97" name="Flowchart: Decision 96"/>
          <p:cNvSpPr>
            <a:spLocks noChangeAspect="1"/>
          </p:cNvSpPr>
          <p:nvPr/>
        </p:nvSpPr>
        <p:spPr>
          <a:xfrm>
            <a:off x="8305805" y="3263464"/>
            <a:ext cx="960120" cy="64008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Decision Box</a:t>
            </a:r>
          </a:p>
        </p:txBody>
      </p:sp>
      <p:sp>
        <p:nvSpPr>
          <p:cNvPr id="98" name="Flowchart: Merge 97"/>
          <p:cNvSpPr>
            <a:spLocks noChangeAspect="1"/>
          </p:cNvSpPr>
          <p:nvPr/>
        </p:nvSpPr>
        <p:spPr>
          <a:xfrm>
            <a:off x="660370" y="4282285"/>
            <a:ext cx="826661" cy="551107"/>
          </a:xfrm>
          <a:prstGeom prst="flowChartMer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File</a:t>
            </a:r>
          </a:p>
        </p:txBody>
      </p:sp>
      <p:sp>
        <p:nvSpPr>
          <p:cNvPr id="99" name="Pentagon 98"/>
          <p:cNvSpPr>
            <a:spLocks noChangeAspect="1"/>
          </p:cNvSpPr>
          <p:nvPr/>
        </p:nvSpPr>
        <p:spPr>
          <a:xfrm rot="5400000">
            <a:off x="2110873" y="4219249"/>
            <a:ext cx="480060" cy="640080"/>
          </a:xfrm>
          <a:prstGeom prst="homePlate">
            <a:avLst>
              <a:gd name="adj" fmla="val 5240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lIns="0" rIns="0"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08465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Off-page Connector</a:t>
            </a:r>
          </a:p>
        </p:txBody>
      </p:sp>
      <p:cxnSp>
        <p:nvCxnSpPr>
          <p:cNvPr id="101" name="Straight Arrow Connector 35"/>
          <p:cNvCxnSpPr/>
          <p:nvPr/>
        </p:nvCxnSpPr>
        <p:spPr>
          <a:xfrm>
            <a:off x="3242443" y="4466899"/>
            <a:ext cx="1097280" cy="1524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3242443" y="4847899"/>
            <a:ext cx="109728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242443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Connectors</a:t>
            </a:r>
          </a:p>
        </p:txBody>
      </p:sp>
      <p:pic>
        <p:nvPicPr>
          <p:cNvPr id="104" name="Picture 10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4634339" y="4207819"/>
            <a:ext cx="877824" cy="7315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4550247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pic>
        <p:nvPicPr>
          <p:cNvPr id="106" name="Picture 10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1" r="13730"/>
          <a:stretch/>
        </p:blipFill>
        <p:spPr>
          <a:xfrm>
            <a:off x="5806400" y="4194036"/>
            <a:ext cx="877824" cy="73152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702874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pic>
        <p:nvPicPr>
          <p:cNvPr id="108" name="Picture 10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3" t="7546" r="36333" b="8038"/>
          <a:stretch/>
        </p:blipFill>
        <p:spPr>
          <a:xfrm>
            <a:off x="7342003" y="4193313"/>
            <a:ext cx="292608" cy="73152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913865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8297" r="22572" b="16667"/>
          <a:stretch/>
        </p:blipFill>
        <p:spPr>
          <a:xfrm>
            <a:off x="8195443" y="4194036"/>
            <a:ext cx="877824" cy="73152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8133065" y="507649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Unit/User</a:t>
            </a:r>
          </a:p>
        </p:txBody>
      </p:sp>
      <p:sp>
        <p:nvSpPr>
          <p:cNvPr id="112" name="Flowchart: Connector 111"/>
          <p:cNvSpPr>
            <a:spLocks noChangeAspect="1"/>
          </p:cNvSpPr>
          <p:nvPr/>
        </p:nvSpPr>
        <p:spPr>
          <a:xfrm>
            <a:off x="974562" y="5555249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8346" y="595148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On-page Connector</a:t>
            </a:r>
          </a:p>
        </p:txBody>
      </p:sp>
      <p:pic>
        <p:nvPicPr>
          <p:cNvPr id="114" name="Picture 1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9" t="21967" r="25722" b="10834"/>
          <a:stretch/>
        </p:blipFill>
        <p:spPr>
          <a:xfrm>
            <a:off x="2256761" y="5555249"/>
            <a:ext cx="325443" cy="32004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870843" y="5951489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Email</a:t>
            </a:r>
          </a:p>
        </p:txBody>
      </p:sp>
      <p:sp>
        <p:nvSpPr>
          <p:cNvPr id="119" name="Flowchart: Terminator 118"/>
          <p:cNvSpPr/>
          <p:nvPr/>
        </p:nvSpPr>
        <p:spPr>
          <a:xfrm>
            <a:off x="4880743" y="5865181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Start</a:t>
            </a:r>
          </a:p>
        </p:txBody>
      </p:sp>
      <p:sp>
        <p:nvSpPr>
          <p:cNvPr id="120" name="Flowchart: Terminator 119"/>
          <p:cNvSpPr/>
          <p:nvPr/>
        </p:nvSpPr>
        <p:spPr>
          <a:xfrm>
            <a:off x="5985643" y="5884433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End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10550" y="397701"/>
            <a:ext cx="4932480" cy="31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Internal Audit Department</a:t>
            </a:r>
            <a:endParaRPr lang="en-PH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80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97"/>
          <p:cNvSpPr txBox="1"/>
          <p:nvPr/>
        </p:nvSpPr>
        <p:spPr>
          <a:xfrm>
            <a:off x="250705" y="5597238"/>
            <a:ext cx="49324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Notes:	</a:t>
            </a:r>
            <a:r>
              <a:rPr lang="en-US" sz="800" b="1" dirty="0"/>
              <a:t>Includes:</a:t>
            </a:r>
          </a:p>
          <a:p>
            <a:r>
              <a:rPr lang="en-US" sz="800" b="1" dirty="0"/>
              <a:t>	1. Risk assessment</a:t>
            </a:r>
          </a:p>
          <a:p>
            <a:r>
              <a:rPr lang="en-US" sz="800" b="1" dirty="0"/>
              <a:t>	2. Audit planning according to risk involved</a:t>
            </a:r>
          </a:p>
          <a:p>
            <a:r>
              <a:rPr lang="en-US" sz="800" b="1" dirty="0"/>
              <a:t>	DI-IA-01 Audit Work Program</a:t>
            </a:r>
          </a:p>
          <a:p>
            <a:r>
              <a:rPr lang="en-US" sz="800" b="1" dirty="0"/>
              <a:t>	AWP includes audit objectives &amp; procedures to be conducted per 	branch.</a:t>
            </a:r>
          </a:p>
          <a:p>
            <a:r>
              <a:rPr lang="en-US" sz="1000" b="1" dirty="0"/>
              <a:t>	</a:t>
            </a:r>
          </a:p>
          <a:p>
            <a:endParaRPr lang="en-PH" sz="1000" b="1" dirty="0"/>
          </a:p>
        </p:txBody>
      </p:sp>
      <p:cxnSp>
        <p:nvCxnSpPr>
          <p:cNvPr id="15" name="Straight Arrow Connector 14"/>
          <p:cNvCxnSpPr>
            <a:stCxn id="61" idx="3"/>
            <a:endCxn id="62" idx="1"/>
          </p:cNvCxnSpPr>
          <p:nvPr/>
        </p:nvCxnSpPr>
        <p:spPr>
          <a:xfrm flipV="1">
            <a:off x="2277433" y="1910265"/>
            <a:ext cx="664397" cy="158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310550" y="397701"/>
            <a:ext cx="4932480" cy="31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Internal Audit Department</a:t>
            </a:r>
            <a:endParaRPr lang="en-PH" sz="1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0128" y="1041421"/>
            <a:ext cx="964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</a:rPr>
              <a:t>Internal Audit Process</a:t>
            </a:r>
          </a:p>
        </p:txBody>
      </p:sp>
      <p:sp>
        <p:nvSpPr>
          <p:cNvPr id="6" name="Flowchart: Terminator 5"/>
          <p:cNvSpPr/>
          <p:nvPr/>
        </p:nvSpPr>
        <p:spPr>
          <a:xfrm>
            <a:off x="251809" y="1759389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Start</a:t>
            </a:r>
          </a:p>
        </p:txBody>
      </p:sp>
      <p:cxnSp>
        <p:nvCxnSpPr>
          <p:cNvPr id="7" name="Straight Arrow Connector 6"/>
          <p:cNvCxnSpPr>
            <a:stCxn id="6" idx="3"/>
            <a:endCxn id="61" idx="1"/>
          </p:cNvCxnSpPr>
          <p:nvPr/>
        </p:nvCxnSpPr>
        <p:spPr>
          <a:xfrm>
            <a:off x="814970" y="1910265"/>
            <a:ext cx="584639" cy="158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Connector 41"/>
          <p:cNvSpPr>
            <a:spLocks noChangeAspect="1"/>
          </p:cNvSpPr>
          <p:nvPr/>
        </p:nvSpPr>
        <p:spPr>
          <a:xfrm>
            <a:off x="9313654" y="1752794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A</a:t>
            </a:r>
          </a:p>
        </p:txBody>
      </p:sp>
      <p:sp>
        <p:nvSpPr>
          <p:cNvPr id="44" name="Flowchart: Connector 43"/>
          <p:cNvSpPr>
            <a:spLocks noChangeAspect="1"/>
          </p:cNvSpPr>
          <p:nvPr/>
        </p:nvSpPr>
        <p:spPr>
          <a:xfrm>
            <a:off x="390827" y="2973744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A</a:t>
            </a:r>
          </a:p>
        </p:txBody>
      </p:sp>
      <p:sp>
        <p:nvSpPr>
          <p:cNvPr id="126" name="Flowchart: Connector 125"/>
          <p:cNvSpPr/>
          <p:nvPr/>
        </p:nvSpPr>
        <p:spPr>
          <a:xfrm>
            <a:off x="1079291" y="5641120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03912" y="2414774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RMS/Comptroller/CEO</a:t>
            </a:r>
          </a:p>
        </p:txBody>
      </p:sp>
      <p:cxnSp>
        <p:nvCxnSpPr>
          <p:cNvPr id="136" name="Straight Arrow Connector 135"/>
          <p:cNvCxnSpPr>
            <a:stCxn id="62" idx="3"/>
            <a:endCxn id="52" idx="1"/>
          </p:cNvCxnSpPr>
          <p:nvPr/>
        </p:nvCxnSpPr>
        <p:spPr>
          <a:xfrm>
            <a:off x="3901950" y="1910265"/>
            <a:ext cx="671596" cy="158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470020" y="2376902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Internal Audit Head</a:t>
            </a:r>
          </a:p>
        </p:txBody>
      </p:sp>
      <p:cxnSp>
        <p:nvCxnSpPr>
          <p:cNvPr id="142" name="Straight Arrow Connector 141"/>
          <p:cNvCxnSpPr>
            <a:stCxn id="52" idx="3"/>
            <a:endCxn id="69" idx="1"/>
          </p:cNvCxnSpPr>
          <p:nvPr/>
        </p:nvCxnSpPr>
        <p:spPr>
          <a:xfrm>
            <a:off x="5451370" y="1911854"/>
            <a:ext cx="595532" cy="214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8297" r="22572" b="16667"/>
          <a:stretch/>
        </p:blipFill>
        <p:spPr>
          <a:xfrm>
            <a:off x="4573546" y="1546094"/>
            <a:ext cx="877824" cy="731520"/>
          </a:xfrm>
          <a:prstGeom prst="rect">
            <a:avLst/>
          </a:prstGeom>
        </p:spPr>
      </p:pic>
      <p:sp>
        <p:nvSpPr>
          <p:cNvPr id="37" name="Flowchart: Connector 36"/>
          <p:cNvSpPr>
            <a:spLocks noChangeAspect="1"/>
          </p:cNvSpPr>
          <p:nvPr/>
        </p:nvSpPr>
        <p:spPr>
          <a:xfrm>
            <a:off x="390827" y="4056354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8773" y="4614842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Internal Audit Head</a:t>
            </a:r>
          </a:p>
        </p:txBody>
      </p:sp>
      <p:cxnSp>
        <p:nvCxnSpPr>
          <p:cNvPr id="66" name="Straight Arrow Connector 65"/>
          <p:cNvCxnSpPr>
            <a:stCxn id="73" idx="3"/>
            <a:endCxn id="91" idx="1"/>
          </p:cNvCxnSpPr>
          <p:nvPr/>
        </p:nvCxnSpPr>
        <p:spPr>
          <a:xfrm flipV="1">
            <a:off x="2229808" y="3131532"/>
            <a:ext cx="689082" cy="94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98" idx="3"/>
            <a:endCxn id="102" idx="1"/>
          </p:cNvCxnSpPr>
          <p:nvPr/>
        </p:nvCxnSpPr>
        <p:spPr>
          <a:xfrm>
            <a:off x="5475734" y="3132481"/>
            <a:ext cx="571168" cy="256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102" idx="3"/>
            <a:endCxn id="108" idx="1"/>
          </p:cNvCxnSpPr>
          <p:nvPr/>
        </p:nvCxnSpPr>
        <p:spPr>
          <a:xfrm>
            <a:off x="7031565" y="3135043"/>
            <a:ext cx="68208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lowchart: Connector 75"/>
          <p:cNvSpPr>
            <a:spLocks noChangeAspect="1"/>
          </p:cNvSpPr>
          <p:nvPr/>
        </p:nvSpPr>
        <p:spPr>
          <a:xfrm>
            <a:off x="9335446" y="2971512"/>
            <a:ext cx="320040" cy="32004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1000" dirty="0"/>
              <a:t>B</a:t>
            </a:r>
          </a:p>
        </p:txBody>
      </p:sp>
      <p:cxnSp>
        <p:nvCxnSpPr>
          <p:cNvPr id="78" name="Straight Arrow Connector 77"/>
          <p:cNvCxnSpPr>
            <a:stCxn id="108" idx="3"/>
            <a:endCxn id="76" idx="2"/>
          </p:cNvCxnSpPr>
          <p:nvPr/>
        </p:nvCxnSpPr>
        <p:spPr>
          <a:xfrm flipV="1">
            <a:off x="8591474" y="3131532"/>
            <a:ext cx="743972" cy="351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44" idx="6"/>
            <a:endCxn id="73" idx="1"/>
          </p:cNvCxnSpPr>
          <p:nvPr/>
        </p:nvCxnSpPr>
        <p:spPr>
          <a:xfrm flipV="1">
            <a:off x="710867" y="3132481"/>
            <a:ext cx="641117" cy="128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151" idx="3"/>
            <a:endCxn id="159" idx="1"/>
          </p:cNvCxnSpPr>
          <p:nvPr/>
        </p:nvCxnSpPr>
        <p:spPr>
          <a:xfrm>
            <a:off x="3801807" y="4216374"/>
            <a:ext cx="710933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159" idx="3"/>
          </p:cNvCxnSpPr>
          <p:nvPr/>
        </p:nvCxnSpPr>
        <p:spPr>
          <a:xfrm>
            <a:off x="5497403" y="4216374"/>
            <a:ext cx="56646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37" idx="6"/>
            <a:endCxn id="117" idx="1"/>
          </p:cNvCxnSpPr>
          <p:nvPr/>
        </p:nvCxnSpPr>
        <p:spPr>
          <a:xfrm>
            <a:off x="710867" y="4216374"/>
            <a:ext cx="58522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8297" r="22572" b="16667"/>
          <a:stretch/>
        </p:blipFill>
        <p:spPr>
          <a:xfrm>
            <a:off x="1399609" y="1546094"/>
            <a:ext cx="877824" cy="731520"/>
          </a:xfrm>
          <a:prstGeom prst="rect">
            <a:avLst/>
          </a:prstGeom>
        </p:spPr>
      </p:pic>
      <p:sp>
        <p:nvSpPr>
          <p:cNvPr id="62" name="Flowchart: Alternate Process 61"/>
          <p:cNvSpPr>
            <a:spLocks noChangeAspect="1"/>
          </p:cNvSpPr>
          <p:nvPr/>
        </p:nvSpPr>
        <p:spPr>
          <a:xfrm>
            <a:off x="2941830" y="1590225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Requests review of operations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6046902" y="1593956"/>
            <a:ext cx="1059649" cy="925587"/>
            <a:chOff x="2945698" y="3094864"/>
            <a:chExt cx="1059649" cy="925587"/>
          </a:xfrm>
        </p:grpSpPr>
        <p:sp>
          <p:nvSpPr>
            <p:cNvPr id="69" name="Flowchart: Alternate Process 68"/>
            <p:cNvSpPr>
              <a:spLocks noChangeAspect="1"/>
            </p:cNvSpPr>
            <p:nvPr/>
          </p:nvSpPr>
          <p:spPr>
            <a:xfrm>
              <a:off x="2945698" y="3094864"/>
              <a:ext cx="960120" cy="640080"/>
            </a:xfrm>
            <a:prstGeom prst="flowChartAlternate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PH" sz="500" dirty="0"/>
                <a:t>Develop annual audit plan &amp; incorporate RMS/Comptroller/CEO requests</a:t>
              </a:r>
            </a:p>
          </p:txBody>
        </p:sp>
        <p:sp>
          <p:nvSpPr>
            <p:cNvPr id="70" name="Flowchart: Document 69"/>
            <p:cNvSpPr/>
            <p:nvPr/>
          </p:nvSpPr>
          <p:spPr>
            <a:xfrm>
              <a:off x="3346979" y="3581539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500" dirty="0"/>
                <a:t>Annual Audit Plan</a:t>
              </a:r>
            </a:p>
          </p:txBody>
        </p:sp>
      </p:grpSp>
      <p:cxnSp>
        <p:nvCxnSpPr>
          <p:cNvPr id="80" name="Straight Arrow Connector 79"/>
          <p:cNvCxnSpPr>
            <a:stCxn id="69" idx="3"/>
            <a:endCxn id="67" idx="1"/>
          </p:cNvCxnSpPr>
          <p:nvPr/>
        </p:nvCxnSpPr>
        <p:spPr>
          <a:xfrm>
            <a:off x="7007022" y="1913996"/>
            <a:ext cx="650414" cy="232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67" idx="3"/>
            <a:endCxn id="42" idx="2"/>
          </p:cNvCxnSpPr>
          <p:nvPr/>
        </p:nvCxnSpPr>
        <p:spPr>
          <a:xfrm flipV="1">
            <a:off x="8617556" y="1912814"/>
            <a:ext cx="696098" cy="350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505052" y="3538743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Internal Audit Head</a:t>
            </a: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8297" r="22572" b="16667"/>
          <a:stretch/>
        </p:blipFill>
        <p:spPr>
          <a:xfrm>
            <a:off x="4597910" y="2766721"/>
            <a:ext cx="877824" cy="731520"/>
          </a:xfrm>
          <a:prstGeom prst="rect">
            <a:avLst/>
          </a:prstGeom>
        </p:spPr>
      </p:pic>
      <p:sp>
        <p:nvSpPr>
          <p:cNvPr id="102" name="Flowchart: Alternate Process 101"/>
          <p:cNvSpPr/>
          <p:nvPr/>
        </p:nvSpPr>
        <p:spPr>
          <a:xfrm>
            <a:off x="6046902" y="2815003"/>
            <a:ext cx="984663" cy="640080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Reviews audit findings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10124" y="3529145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Branch Managers</a:t>
            </a:r>
          </a:p>
        </p:txBody>
      </p:sp>
      <p:pic>
        <p:nvPicPr>
          <p:cNvPr id="108" name="Picture 10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r="7377"/>
          <a:stretch/>
        </p:blipFill>
        <p:spPr>
          <a:xfrm>
            <a:off x="7713650" y="2769283"/>
            <a:ext cx="877824" cy="731520"/>
          </a:xfrm>
          <a:prstGeom prst="rect">
            <a:avLst/>
          </a:prstGeom>
        </p:spPr>
      </p:pic>
      <p:sp>
        <p:nvSpPr>
          <p:cNvPr id="117" name="Flowchart: Alternate Process 116"/>
          <p:cNvSpPr/>
          <p:nvPr/>
        </p:nvSpPr>
        <p:spPr>
          <a:xfrm>
            <a:off x="1296088" y="3896334"/>
            <a:ext cx="984663" cy="640080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Confirm audit findings</a:t>
            </a:r>
          </a:p>
        </p:txBody>
      </p:sp>
      <p:pic>
        <p:nvPicPr>
          <p:cNvPr id="151" name="Picture 15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t="8297" r="22572" b="16667"/>
          <a:stretch/>
        </p:blipFill>
        <p:spPr>
          <a:xfrm>
            <a:off x="2923983" y="3850614"/>
            <a:ext cx="877824" cy="731520"/>
          </a:xfrm>
          <a:prstGeom prst="rect">
            <a:avLst/>
          </a:prstGeom>
        </p:spPr>
      </p:pic>
      <p:sp>
        <p:nvSpPr>
          <p:cNvPr id="159" name="Flowchart: Alternate Process 158"/>
          <p:cNvSpPr/>
          <p:nvPr/>
        </p:nvSpPr>
        <p:spPr>
          <a:xfrm>
            <a:off x="4512740" y="3896334"/>
            <a:ext cx="984663" cy="640080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Consolidates audit findings</a:t>
            </a:r>
          </a:p>
        </p:txBody>
      </p:sp>
      <p:sp>
        <p:nvSpPr>
          <p:cNvPr id="169" name="Flowchart: Alternate Process 168"/>
          <p:cNvSpPr/>
          <p:nvPr/>
        </p:nvSpPr>
        <p:spPr>
          <a:xfrm>
            <a:off x="6063870" y="3896334"/>
            <a:ext cx="984663" cy="640080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Reports to BOD and AC</a:t>
            </a:r>
          </a:p>
        </p:txBody>
      </p:sp>
      <p:cxnSp>
        <p:nvCxnSpPr>
          <p:cNvPr id="170" name="Straight Arrow Connector 169"/>
          <p:cNvCxnSpPr>
            <a:stCxn id="169" idx="3"/>
            <a:endCxn id="176" idx="1"/>
          </p:cNvCxnSpPr>
          <p:nvPr/>
        </p:nvCxnSpPr>
        <p:spPr>
          <a:xfrm>
            <a:off x="7048533" y="4216374"/>
            <a:ext cx="59040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Flowchart: Decision 175"/>
          <p:cNvSpPr>
            <a:spLocks noChangeAspect="1"/>
          </p:cNvSpPr>
          <p:nvPr/>
        </p:nvSpPr>
        <p:spPr>
          <a:xfrm>
            <a:off x="7638941" y="3896334"/>
            <a:ext cx="960120" cy="64008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Need to create new policies?</a:t>
            </a:r>
          </a:p>
        </p:txBody>
      </p:sp>
      <p:cxnSp>
        <p:nvCxnSpPr>
          <p:cNvPr id="179" name="Straight Arrow Connector 178"/>
          <p:cNvCxnSpPr>
            <a:stCxn id="176" idx="2"/>
            <a:endCxn id="101" idx="0"/>
          </p:cNvCxnSpPr>
          <p:nvPr/>
        </p:nvCxnSpPr>
        <p:spPr>
          <a:xfrm>
            <a:off x="8119001" y="4536414"/>
            <a:ext cx="0" cy="19202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stCxn id="176" idx="3"/>
            <a:endCxn id="99" idx="2"/>
          </p:cNvCxnSpPr>
          <p:nvPr/>
        </p:nvCxnSpPr>
        <p:spPr>
          <a:xfrm flipV="1">
            <a:off x="8599061" y="4216326"/>
            <a:ext cx="449689" cy="4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6819669" y="5546863"/>
            <a:ext cx="2515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Legend:</a:t>
            </a:r>
          </a:p>
          <a:p>
            <a:r>
              <a:rPr lang="en-US" sz="1000" b="1" dirty="0"/>
              <a:t>AWP – Audit Work Program</a:t>
            </a:r>
          </a:p>
          <a:p>
            <a:r>
              <a:rPr lang="en-US" sz="1000" b="1" dirty="0"/>
              <a:t>CEO – Chief Executive Officer</a:t>
            </a:r>
          </a:p>
          <a:p>
            <a:r>
              <a:rPr lang="en-US" sz="1000" b="1" dirty="0"/>
              <a:t>BOD – Board of Directors</a:t>
            </a:r>
          </a:p>
          <a:p>
            <a:r>
              <a:rPr lang="en-US" sz="1000" b="1" dirty="0"/>
              <a:t>AC – Audit Committee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US" sz="1000" b="1" dirty="0"/>
          </a:p>
          <a:p>
            <a:endParaRPr lang="en-PH" sz="1000" b="1" dirty="0"/>
          </a:p>
        </p:txBody>
      </p:sp>
      <p:sp>
        <p:nvSpPr>
          <p:cNvPr id="202" name="TextBox 201"/>
          <p:cNvSpPr txBox="1"/>
          <p:nvPr/>
        </p:nvSpPr>
        <p:spPr>
          <a:xfrm>
            <a:off x="8166411" y="4494743"/>
            <a:ext cx="34259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No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591474" y="4235730"/>
            <a:ext cx="34259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Yes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7657436" y="1596280"/>
            <a:ext cx="1059649" cy="925587"/>
            <a:chOff x="2945698" y="3094864"/>
            <a:chExt cx="1059649" cy="925587"/>
          </a:xfrm>
        </p:grpSpPr>
        <p:sp>
          <p:nvSpPr>
            <p:cNvPr id="67" name="Flowchart: Alternate Process 66"/>
            <p:cNvSpPr>
              <a:spLocks noChangeAspect="1"/>
            </p:cNvSpPr>
            <p:nvPr/>
          </p:nvSpPr>
          <p:spPr>
            <a:xfrm>
              <a:off x="2945698" y="3094864"/>
              <a:ext cx="960120" cy="640080"/>
            </a:xfrm>
            <a:prstGeom prst="flowChartAlternate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PH" sz="800" dirty="0"/>
                <a:t>Prepares AWP for each audit area</a:t>
              </a:r>
            </a:p>
          </p:txBody>
        </p:sp>
        <p:sp>
          <p:nvSpPr>
            <p:cNvPr id="71" name="Flowchart: Document 70"/>
            <p:cNvSpPr/>
            <p:nvPr/>
          </p:nvSpPr>
          <p:spPr>
            <a:xfrm>
              <a:off x="3346979" y="3581539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AWP</a:t>
              </a:r>
            </a:p>
          </p:txBody>
        </p:sp>
      </p:grpSp>
      <p:sp>
        <p:nvSpPr>
          <p:cNvPr id="72" name="Flowchart: Connector 71"/>
          <p:cNvSpPr/>
          <p:nvPr/>
        </p:nvSpPr>
        <p:spPr>
          <a:xfrm>
            <a:off x="8473688" y="1590225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2</a:t>
            </a:r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1" r="13730"/>
          <a:stretch/>
        </p:blipFill>
        <p:spPr>
          <a:xfrm>
            <a:off x="1351984" y="2766721"/>
            <a:ext cx="877824" cy="73152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248458" y="3558601"/>
            <a:ext cx="10848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Internal Auditors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2918890" y="2811492"/>
            <a:ext cx="1059649" cy="925587"/>
            <a:chOff x="2945698" y="3094864"/>
            <a:chExt cx="1059649" cy="925587"/>
          </a:xfrm>
        </p:grpSpPr>
        <p:sp>
          <p:nvSpPr>
            <p:cNvPr id="91" name="Flowchart: Alternate Process 90"/>
            <p:cNvSpPr>
              <a:spLocks noChangeAspect="1"/>
            </p:cNvSpPr>
            <p:nvPr/>
          </p:nvSpPr>
          <p:spPr>
            <a:xfrm>
              <a:off x="2945698" y="3094864"/>
              <a:ext cx="960120" cy="640080"/>
            </a:xfrm>
            <a:prstGeom prst="flowChartAlternate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PH" sz="800" dirty="0"/>
                <a:t>Execute audit according to the AWP</a:t>
              </a:r>
            </a:p>
          </p:txBody>
        </p:sp>
        <p:sp>
          <p:nvSpPr>
            <p:cNvPr id="92" name="Flowchart: Document 91"/>
            <p:cNvSpPr/>
            <p:nvPr/>
          </p:nvSpPr>
          <p:spPr>
            <a:xfrm>
              <a:off x="3346979" y="3581539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Audit Findings</a:t>
              </a:r>
            </a:p>
          </p:txBody>
        </p:sp>
      </p:grpSp>
      <p:cxnSp>
        <p:nvCxnSpPr>
          <p:cNvPr id="95" name="Straight Arrow Connector 94"/>
          <p:cNvCxnSpPr>
            <a:stCxn id="91" idx="3"/>
            <a:endCxn id="98" idx="1"/>
          </p:cNvCxnSpPr>
          <p:nvPr/>
        </p:nvCxnSpPr>
        <p:spPr>
          <a:xfrm>
            <a:off x="3879010" y="3131532"/>
            <a:ext cx="718900" cy="94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117" idx="3"/>
            <a:endCxn id="151" idx="1"/>
          </p:cNvCxnSpPr>
          <p:nvPr/>
        </p:nvCxnSpPr>
        <p:spPr>
          <a:xfrm>
            <a:off x="2280751" y="4216374"/>
            <a:ext cx="643232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Pentagon 98"/>
          <p:cNvSpPr>
            <a:spLocks noChangeAspect="1"/>
          </p:cNvSpPr>
          <p:nvPr/>
        </p:nvSpPr>
        <p:spPr>
          <a:xfrm rot="5400000">
            <a:off x="9128760" y="4022064"/>
            <a:ext cx="480060" cy="640080"/>
          </a:xfrm>
          <a:prstGeom prst="homePlate">
            <a:avLst>
              <a:gd name="adj" fmla="val 5240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lIns="0" rIns="0"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101" name="Flowchart: Merge 100"/>
          <p:cNvSpPr>
            <a:spLocks noChangeAspect="1"/>
          </p:cNvSpPr>
          <p:nvPr/>
        </p:nvSpPr>
        <p:spPr>
          <a:xfrm>
            <a:off x="7705670" y="4728437"/>
            <a:ext cx="826661" cy="551107"/>
          </a:xfrm>
          <a:prstGeom prst="flowChartMer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File</a:t>
            </a:r>
          </a:p>
        </p:txBody>
      </p:sp>
      <p:sp>
        <p:nvSpPr>
          <p:cNvPr id="75" name="Flowchart: Connector 74"/>
          <p:cNvSpPr/>
          <p:nvPr/>
        </p:nvSpPr>
        <p:spPr>
          <a:xfrm>
            <a:off x="1079291" y="6025347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2</a:t>
            </a:r>
          </a:p>
        </p:txBody>
      </p:sp>
      <p:sp>
        <p:nvSpPr>
          <p:cNvPr id="77" name="Flowchart: Connector 76"/>
          <p:cNvSpPr/>
          <p:nvPr/>
        </p:nvSpPr>
        <p:spPr>
          <a:xfrm>
            <a:off x="6893896" y="1590225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79" name="Flowchart: Document 78"/>
          <p:cNvSpPr/>
          <p:nvPr/>
        </p:nvSpPr>
        <p:spPr>
          <a:xfrm>
            <a:off x="6448183" y="4412969"/>
            <a:ext cx="658368" cy="438912"/>
          </a:xfrm>
          <a:prstGeom prst="flowChartDocumen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Audit Report</a:t>
            </a:r>
          </a:p>
        </p:txBody>
      </p:sp>
    </p:spTree>
    <p:extLst>
      <p:ext uri="{BB962C8B-B14F-4D97-AF65-F5344CB8AC3E}">
        <p14:creationId xmlns:p14="http://schemas.microsoft.com/office/powerpoint/2010/main" val="335206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>
            <a:stCxn id="67" idx="3"/>
            <a:endCxn id="71" idx="1"/>
          </p:cNvCxnSpPr>
          <p:nvPr/>
        </p:nvCxnSpPr>
        <p:spPr>
          <a:xfrm flipV="1">
            <a:off x="4593312" y="3173620"/>
            <a:ext cx="808609" cy="138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310550" y="397701"/>
            <a:ext cx="4932480" cy="31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Internal Audit Department</a:t>
            </a:r>
            <a:endParaRPr lang="en-PH" sz="1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0128" y="1041421"/>
            <a:ext cx="964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</a:rPr>
              <a:t>Internal Audit Process</a:t>
            </a:r>
          </a:p>
        </p:txBody>
      </p:sp>
      <p:cxnSp>
        <p:nvCxnSpPr>
          <p:cNvPr id="7" name="Straight Arrow Connector 6"/>
          <p:cNvCxnSpPr>
            <a:stCxn id="64" idx="0"/>
            <a:endCxn id="24" idx="1"/>
          </p:cNvCxnSpPr>
          <p:nvPr/>
        </p:nvCxnSpPr>
        <p:spPr>
          <a:xfrm flipV="1">
            <a:off x="1155159" y="3174220"/>
            <a:ext cx="708708" cy="195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71" idx="3"/>
            <a:endCxn id="95" idx="1"/>
          </p:cNvCxnSpPr>
          <p:nvPr/>
        </p:nvCxnSpPr>
        <p:spPr>
          <a:xfrm>
            <a:off x="6362041" y="3173620"/>
            <a:ext cx="758546" cy="6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95" idx="3"/>
            <a:endCxn id="99" idx="1"/>
          </p:cNvCxnSpPr>
          <p:nvPr/>
        </p:nvCxnSpPr>
        <p:spPr>
          <a:xfrm>
            <a:off x="8080707" y="3174220"/>
            <a:ext cx="782809" cy="78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entagon 63"/>
          <p:cNvSpPr>
            <a:spLocks noChangeAspect="1"/>
          </p:cNvSpPr>
          <p:nvPr/>
        </p:nvSpPr>
        <p:spPr>
          <a:xfrm rot="5400000">
            <a:off x="595089" y="2981915"/>
            <a:ext cx="480060" cy="640080"/>
          </a:xfrm>
          <a:prstGeom prst="homePlate">
            <a:avLst>
              <a:gd name="adj" fmla="val 5240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lIns="0" rIns="0"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67" name="Flowchart: Alternate Process 66"/>
          <p:cNvSpPr>
            <a:spLocks noChangeAspect="1"/>
          </p:cNvSpPr>
          <p:nvPr/>
        </p:nvSpPr>
        <p:spPr>
          <a:xfrm>
            <a:off x="3633192" y="2854960"/>
            <a:ext cx="960120" cy="64008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Submits to CEO</a:t>
            </a:r>
          </a:p>
        </p:txBody>
      </p:sp>
      <p:sp>
        <p:nvSpPr>
          <p:cNvPr id="71" name="Flowchart: Decision 70"/>
          <p:cNvSpPr>
            <a:spLocks noChangeAspect="1"/>
          </p:cNvSpPr>
          <p:nvPr/>
        </p:nvSpPr>
        <p:spPr>
          <a:xfrm>
            <a:off x="5401921" y="2853580"/>
            <a:ext cx="960120" cy="64008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Approved?</a:t>
            </a:r>
          </a:p>
        </p:txBody>
      </p:sp>
      <p:cxnSp>
        <p:nvCxnSpPr>
          <p:cNvPr id="74" name="Straight Arrow Connector 73"/>
          <p:cNvCxnSpPr>
            <a:stCxn id="71" idx="2"/>
            <a:endCxn id="26" idx="0"/>
          </p:cNvCxnSpPr>
          <p:nvPr/>
        </p:nvCxnSpPr>
        <p:spPr>
          <a:xfrm>
            <a:off x="5881981" y="3493660"/>
            <a:ext cx="0" cy="40267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331318" y="3225892"/>
            <a:ext cx="40999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Yes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33034" y="3492345"/>
            <a:ext cx="40999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PH" sz="800" dirty="0"/>
              <a:t>No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7120587" y="2854180"/>
            <a:ext cx="1059649" cy="925587"/>
            <a:chOff x="2945698" y="3094864"/>
            <a:chExt cx="1059649" cy="925587"/>
          </a:xfrm>
        </p:grpSpPr>
        <p:sp>
          <p:nvSpPr>
            <p:cNvPr id="95" name="Flowchart: Alternate Process 94"/>
            <p:cNvSpPr>
              <a:spLocks noChangeAspect="1"/>
            </p:cNvSpPr>
            <p:nvPr/>
          </p:nvSpPr>
          <p:spPr>
            <a:xfrm>
              <a:off x="2945698" y="3094864"/>
              <a:ext cx="960120" cy="640080"/>
            </a:xfrm>
            <a:prstGeom prst="flowChartAlternate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PH" sz="800" dirty="0"/>
                <a:t>Publishes memo</a:t>
              </a:r>
            </a:p>
          </p:txBody>
        </p:sp>
        <p:sp>
          <p:nvSpPr>
            <p:cNvPr id="96" name="Flowchart: Document 95"/>
            <p:cNvSpPr/>
            <p:nvPr/>
          </p:nvSpPr>
          <p:spPr>
            <a:xfrm>
              <a:off x="3346979" y="3581539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Approved Memo</a:t>
              </a:r>
            </a:p>
          </p:txBody>
        </p:sp>
      </p:grpSp>
      <p:sp>
        <p:nvSpPr>
          <p:cNvPr id="99" name="Flowchart: Terminator 98"/>
          <p:cNvSpPr/>
          <p:nvPr/>
        </p:nvSpPr>
        <p:spPr>
          <a:xfrm>
            <a:off x="8863516" y="3024124"/>
            <a:ext cx="563161" cy="301752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End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0705" y="5597238"/>
            <a:ext cx="49324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Notes:	Published to either:</a:t>
            </a:r>
          </a:p>
          <a:p>
            <a:r>
              <a:rPr lang="en-US" sz="1000" b="1" dirty="0"/>
              <a:t>	1. All departments involved.</a:t>
            </a:r>
          </a:p>
          <a:p>
            <a:r>
              <a:rPr lang="en-US" sz="1000" b="1" dirty="0"/>
              <a:t>	2. Specific department as appropriate.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US" sz="1000" b="1" dirty="0"/>
          </a:p>
          <a:p>
            <a:endParaRPr lang="en-PH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819669" y="5546863"/>
            <a:ext cx="25157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Legend:</a:t>
            </a:r>
          </a:p>
          <a:p>
            <a:r>
              <a:rPr lang="en-US" sz="1000" b="1" dirty="0"/>
              <a:t>Memo - Memorandum</a:t>
            </a:r>
          </a:p>
          <a:p>
            <a:r>
              <a:rPr lang="en-US" sz="1000" b="1" dirty="0"/>
              <a:t>CEO – Chief Executive Officer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US" sz="1000" b="1" dirty="0"/>
          </a:p>
          <a:p>
            <a:endParaRPr lang="en-PH" sz="1000" b="1" dirty="0"/>
          </a:p>
        </p:txBody>
      </p:sp>
      <p:sp>
        <p:nvSpPr>
          <p:cNvPr id="21" name="Flowchart: Connector 20"/>
          <p:cNvSpPr/>
          <p:nvPr/>
        </p:nvSpPr>
        <p:spPr>
          <a:xfrm>
            <a:off x="1079291" y="5641120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7984851" y="2853580"/>
            <a:ext cx="152068" cy="134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800" dirty="0"/>
              <a:t>1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63867" y="2854180"/>
            <a:ext cx="1059649" cy="925587"/>
            <a:chOff x="2945698" y="3094864"/>
            <a:chExt cx="1059649" cy="925587"/>
          </a:xfrm>
        </p:grpSpPr>
        <p:sp>
          <p:nvSpPr>
            <p:cNvPr id="24" name="Flowchart: Alternate Process 23"/>
            <p:cNvSpPr>
              <a:spLocks noChangeAspect="1"/>
            </p:cNvSpPr>
            <p:nvPr/>
          </p:nvSpPr>
          <p:spPr>
            <a:xfrm>
              <a:off x="2945698" y="3094864"/>
              <a:ext cx="960120" cy="640080"/>
            </a:xfrm>
            <a:prstGeom prst="flowChartAlternate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PH" sz="600" dirty="0"/>
                <a:t>Creates draft memorandum for new policies to be implemented</a:t>
              </a:r>
            </a:p>
          </p:txBody>
        </p:sp>
        <p:sp>
          <p:nvSpPr>
            <p:cNvPr id="25" name="Flowchart: Document 24"/>
            <p:cNvSpPr/>
            <p:nvPr/>
          </p:nvSpPr>
          <p:spPr>
            <a:xfrm>
              <a:off x="3346979" y="3581539"/>
              <a:ext cx="658368" cy="438912"/>
            </a:xfrm>
            <a:prstGeom prst="flowChartDocumen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PH" sz="800" dirty="0"/>
                <a:t>Draft</a:t>
              </a:r>
            </a:p>
            <a:p>
              <a:pPr algn="ctr"/>
              <a:r>
                <a:rPr lang="en-PH" sz="800" dirty="0"/>
                <a:t>Memo</a:t>
              </a:r>
            </a:p>
          </p:txBody>
        </p:sp>
      </p:grpSp>
      <p:sp>
        <p:nvSpPr>
          <p:cNvPr id="26" name="Flowchart: Merge 25"/>
          <p:cNvSpPr>
            <a:spLocks noChangeAspect="1"/>
          </p:cNvSpPr>
          <p:nvPr/>
        </p:nvSpPr>
        <p:spPr>
          <a:xfrm>
            <a:off x="5468650" y="3896333"/>
            <a:ext cx="826661" cy="551107"/>
          </a:xfrm>
          <a:prstGeom prst="flowChartMerg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PH" sz="800" dirty="0"/>
              <a:t>File</a:t>
            </a:r>
          </a:p>
        </p:txBody>
      </p:sp>
      <p:cxnSp>
        <p:nvCxnSpPr>
          <p:cNvPr id="32" name="Straight Arrow Connector 31"/>
          <p:cNvCxnSpPr>
            <a:stCxn id="24" idx="3"/>
            <a:endCxn id="67" idx="1"/>
          </p:cNvCxnSpPr>
          <p:nvPr/>
        </p:nvCxnSpPr>
        <p:spPr>
          <a:xfrm>
            <a:off x="2823987" y="3174220"/>
            <a:ext cx="809205" cy="78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64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12FDFA-F00A-4B5A-AF4B-117F3F5CAF94}"/>
              </a:ext>
            </a:extLst>
          </p:cNvPr>
          <p:cNvSpPr txBox="1"/>
          <p:nvPr/>
        </p:nvSpPr>
        <p:spPr>
          <a:xfrm>
            <a:off x="1562100" y="2400300"/>
            <a:ext cx="7340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REQUEST:</a:t>
            </a:r>
          </a:p>
          <a:p>
            <a:pPr marL="285750" indent="-285750">
              <a:buFontTx/>
              <a:buChar char="-"/>
            </a:pPr>
            <a:r>
              <a:rPr lang="en-PH" dirty="0"/>
              <a:t>Documentation that they are logging all reviewed data</a:t>
            </a:r>
          </a:p>
          <a:p>
            <a:pPr marL="285750" indent="-285750">
              <a:buFontTx/>
              <a:buChar char="-"/>
            </a:pPr>
            <a:r>
              <a:rPr lang="en-US" dirty="0"/>
              <a:t>Singing documents if there are Internal , External, Audit Committee that they review and handle the data electronic or physical forms</a:t>
            </a:r>
          </a:p>
          <a:p>
            <a:pPr marL="285750" indent="-285750">
              <a:buFontTx/>
              <a:buChar char="-"/>
            </a:pPr>
            <a:r>
              <a:rPr lang="en-US" dirty="0"/>
              <a:t>Any request forms of any auditors who wants to review that </a:t>
            </a:r>
            <a:r>
              <a:rPr lang="en-US"/>
              <a:t>database back-up.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4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1433</TotalTime>
  <Words>371</Words>
  <Application>Microsoft Office PowerPoint</Application>
  <PresentationFormat>A4 Paper (210x297 mm)</PresentationFormat>
  <Paragraphs>106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Elizer P. Betinol</dc:creator>
  <cp:lastModifiedBy>AlphaShin</cp:lastModifiedBy>
  <cp:revision>99</cp:revision>
  <dcterms:created xsi:type="dcterms:W3CDTF">2018-07-10T06:10:15Z</dcterms:created>
  <dcterms:modified xsi:type="dcterms:W3CDTF">2023-10-20T01:33:45Z</dcterms:modified>
</cp:coreProperties>
</file>